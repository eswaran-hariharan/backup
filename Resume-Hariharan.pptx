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5674" r:id="rId4"/>
  </p:sldMasterIdLst>
  <p:notesMasterIdLst>
    <p:notesMasterId r:id="rId6"/>
  </p:notesMasterIdLst>
  <p:sldIdLst>
    <p:sldId id="2076137928" r:id="rId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FFFF"/>
    <a:srgbClr val="FBBC79"/>
    <a:srgbClr val="FF9C00"/>
    <a:srgbClr val="BB3312"/>
    <a:srgbClr val="525252"/>
    <a:srgbClr val="8FAADD"/>
    <a:srgbClr val="FFD602"/>
    <a:srgbClr val="7C7C7C"/>
    <a:srgbClr val="2F54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3648" autoAdjust="0"/>
  </p:normalViewPr>
  <p:slideViewPr>
    <p:cSldViewPr snapToGrid="0">
      <p:cViewPr varScale="1">
        <p:scale>
          <a:sx n="77" d="100"/>
          <a:sy n="77" d="100"/>
        </p:scale>
        <p:origin x="883"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haran Eswaran" userId="455f8a4a1156f376" providerId="LiveId" clId="{D8C337EA-F5E5-4EBC-ABCD-898BB5C26DFB}"/>
    <pc:docChg chg="modSld">
      <pc:chgData name="Hariharan Eswaran" userId="455f8a4a1156f376" providerId="LiveId" clId="{D8C337EA-F5E5-4EBC-ABCD-898BB5C26DFB}" dt="2026-09-04T03:40:40.957" v="4" actId="20577"/>
      <pc:docMkLst>
        <pc:docMk/>
      </pc:docMkLst>
      <pc:sldChg chg="modSp mod">
        <pc:chgData name="Hariharan Eswaran" userId="455f8a4a1156f376" providerId="LiveId" clId="{D8C337EA-F5E5-4EBC-ABCD-898BB5C26DFB}" dt="2026-09-04T03:40:40.957" v="4" actId="20577"/>
        <pc:sldMkLst>
          <pc:docMk/>
          <pc:sldMk cId="1186732060" sldId="2076137928"/>
        </pc:sldMkLst>
        <pc:spChg chg="mod">
          <ac:chgData name="Hariharan Eswaran" userId="455f8a4a1156f376" providerId="LiveId" clId="{D8C337EA-F5E5-4EBC-ABCD-898BB5C26DFB}" dt="2026-09-04T03:40:40.957" v="4" actId="20577"/>
          <ac:spMkLst>
            <pc:docMk/>
            <pc:sldMk cId="1186732060" sldId="2076137928"/>
            <ac:spMk id="15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909" name="Shape 4909"/>
          <p:cNvSpPr>
            <a:spLocks noGrp="1" noRot="1" noChangeAspect="1"/>
          </p:cNvSpPr>
          <p:nvPr>
            <p:ph type="sldImg"/>
          </p:nvPr>
        </p:nvSpPr>
        <p:spPr>
          <a:xfrm>
            <a:off x="1143000" y="685800"/>
            <a:ext cx="4572000" cy="3429000"/>
          </a:xfrm>
          <a:prstGeom prst="rect">
            <a:avLst/>
          </a:prstGeom>
        </p:spPr>
        <p:txBody>
          <a:bodyPr/>
          <a:lstStyle/>
          <a:p>
            <a:endParaRPr/>
          </a:p>
        </p:txBody>
      </p:sp>
      <p:sp>
        <p:nvSpPr>
          <p:cNvPr id="4910" name="Shape 491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7d141aeedb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7d141aeedb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8602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FFFFFF"/>
        </a:solid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6285332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Only">
    <p:bg>
      <p:bgPr>
        <a:gradFill flip="none" rotWithShape="1">
          <a:gsLst>
            <a:gs pos="0">
              <a:srgbClr val="0D3572"/>
            </a:gs>
            <a:gs pos="100000">
              <a:srgbClr val="3482B6"/>
            </a:gs>
          </a:gsLst>
          <a:lin ang="2100000" scaled="0"/>
        </a:gradFill>
        <a:effectLst/>
      </p:bgPr>
    </p:bg>
    <p:spTree>
      <p:nvGrpSpPr>
        <p:cNvPr id="1" name=""/>
        <p:cNvGrpSpPr/>
        <p:nvPr/>
      </p:nvGrpSpPr>
      <p:grpSpPr>
        <a:xfrm>
          <a:off x="0" y="0"/>
          <a:ext cx="0" cy="0"/>
          <a:chOff x="0" y="0"/>
          <a:chExt cx="0" cy="0"/>
        </a:xfrm>
      </p:grpSpPr>
      <p:sp>
        <p:nvSpPr>
          <p:cNvPr id="3372" name="Title Text"/>
          <p:cNvSpPr txBox="1">
            <a:spLocks noGrp="1"/>
          </p:cNvSpPr>
          <p:nvPr>
            <p:ph type="title"/>
          </p:nvPr>
        </p:nvSpPr>
        <p:spPr>
          <a:xfrm>
            <a:off x="627297" y="1365582"/>
            <a:ext cx="10937405" cy="396646"/>
          </a:xfrm>
          <a:prstGeom prst="rect">
            <a:avLst/>
          </a:prstGeom>
        </p:spPr>
        <p:txBody>
          <a:bodyPr lIns="0" tIns="0" rIns="0" bIns="0" anchor="t"/>
          <a:lstStyle>
            <a:lvl1pPr defTabSz="554804">
              <a:lnSpc>
                <a:spcPct val="100000"/>
              </a:lnSpc>
              <a:defRPr sz="2400" b="1">
                <a:latin typeface="HelveticaNeueLTStd-Hv"/>
                <a:ea typeface="HelveticaNeueLTStd-Hv"/>
                <a:cs typeface="HelveticaNeueLTStd-Hv"/>
                <a:sym typeface="HelveticaNeueLTStd-Hv"/>
              </a:defRPr>
            </a:lvl1pPr>
          </a:lstStyle>
          <a:p>
            <a:r>
              <a:t>Title Text</a:t>
            </a:r>
          </a:p>
        </p:txBody>
      </p:sp>
      <p:pic>
        <p:nvPicPr>
          <p:cNvPr id="3373" name="image5.png" descr="image5.png"/>
          <p:cNvPicPr>
            <a:picLocks noChangeAspect="1"/>
          </p:cNvPicPr>
          <p:nvPr/>
        </p:nvPicPr>
        <p:blipFill>
          <a:blip r:embed="rId2"/>
          <a:stretch>
            <a:fillRect/>
          </a:stretch>
        </p:blipFill>
        <p:spPr>
          <a:xfrm>
            <a:off x="288641" y="6452929"/>
            <a:ext cx="1147032" cy="281023"/>
          </a:xfrm>
          <a:prstGeom prst="rect">
            <a:avLst/>
          </a:prstGeom>
          <a:ln w="12700">
            <a:miter lim="400000"/>
          </a:ln>
        </p:spPr>
      </p:pic>
      <p:sp>
        <p:nvSpPr>
          <p:cNvPr id="3374" name="Image"/>
          <p:cNvSpPr>
            <a:spLocks noGrp="1"/>
          </p:cNvSpPr>
          <p:nvPr>
            <p:ph type="pic" sz="quarter" idx="21"/>
          </p:nvPr>
        </p:nvSpPr>
        <p:spPr>
          <a:xfrm>
            <a:off x="1614527" y="6466502"/>
            <a:ext cx="253876" cy="253876"/>
          </a:xfrm>
          <a:prstGeom prst="rect">
            <a:avLst/>
          </a:prstGeom>
        </p:spPr>
        <p:txBody>
          <a:bodyPr lIns="91439" rIns="91439">
            <a:noAutofit/>
          </a:bodyPr>
          <a:lstStyle/>
          <a:p>
            <a:endParaRPr/>
          </a:p>
        </p:txBody>
      </p:sp>
      <p:sp>
        <p:nvSpPr>
          <p:cNvPr id="3375" name="Lige forbindelse 8"/>
          <p:cNvSpPr/>
          <p:nvPr/>
        </p:nvSpPr>
        <p:spPr>
          <a:xfrm>
            <a:off x="10460996" y="6610835"/>
            <a:ext cx="1727201" cy="1"/>
          </a:xfrm>
          <a:prstGeom prst="line">
            <a:avLst/>
          </a:prstGeom>
          <a:ln w="3175">
            <a:solidFill>
              <a:srgbClr val="FFFFFF"/>
            </a:solidFill>
          </a:ln>
        </p:spPr>
        <p:txBody>
          <a:bodyPr lIns="27725" tIns="27725" rIns="27725" bIns="27725"/>
          <a:lstStyle/>
          <a:p>
            <a:pPr algn="ctr" defTabSz="500865">
              <a:defRPr>
                <a:latin typeface="Helvetica Neue Medium"/>
                <a:ea typeface="Helvetica Neue Medium"/>
                <a:cs typeface="Helvetica Neue Medium"/>
                <a:sym typeface="Helvetica Neue Medium"/>
              </a:defRPr>
            </a:pPr>
            <a:endParaRPr/>
          </a:p>
        </p:txBody>
      </p:sp>
      <p:sp>
        <p:nvSpPr>
          <p:cNvPr id="3376" name="Footer Placeholder 4"/>
          <p:cNvSpPr txBox="1"/>
          <p:nvPr/>
        </p:nvSpPr>
        <p:spPr>
          <a:xfrm>
            <a:off x="10502907" y="6661900"/>
            <a:ext cx="140430" cy="13554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a:defRPr sz="1000" b="1">
                <a:solidFill>
                  <a:srgbClr val="FFFFFF"/>
                </a:solidFill>
                <a:latin typeface="Arial"/>
                <a:ea typeface="Arial"/>
                <a:cs typeface="Arial"/>
                <a:sym typeface="Arial"/>
              </a:defRPr>
            </a:lvl1pPr>
          </a:lstStyle>
          <a:p>
            <a:r>
              <a:t>©</a:t>
            </a:r>
          </a:p>
        </p:txBody>
      </p:sp>
      <p:sp>
        <p:nvSpPr>
          <p:cNvPr id="3377" name="Freeform 5"/>
          <p:cNvSpPr/>
          <p:nvPr/>
        </p:nvSpPr>
        <p:spPr>
          <a:xfrm>
            <a:off x="10701828" y="6655496"/>
            <a:ext cx="397063" cy="152824"/>
          </a:xfrm>
          <a:custGeom>
            <a:avLst/>
            <a:gdLst/>
            <a:ahLst/>
            <a:cxnLst>
              <a:cxn ang="0">
                <a:pos x="wd2" y="hd2"/>
              </a:cxn>
              <a:cxn ang="5400000">
                <a:pos x="wd2" y="hd2"/>
              </a:cxn>
              <a:cxn ang="10800000">
                <a:pos x="wd2" y="hd2"/>
              </a:cxn>
              <a:cxn ang="16200000">
                <a:pos x="wd2" y="hd2"/>
              </a:cxn>
            </a:cxnLst>
            <a:rect l="0" t="0" r="r" b="b"/>
            <a:pathLst>
              <a:path w="21585" h="21447" extrusionOk="0">
                <a:moveTo>
                  <a:pt x="19435" y="4794"/>
                </a:moveTo>
                <a:cubicBezTo>
                  <a:pt x="18255" y="4794"/>
                  <a:pt x="17303" y="7292"/>
                  <a:pt x="17303" y="10427"/>
                </a:cubicBezTo>
                <a:cubicBezTo>
                  <a:pt x="17303" y="13561"/>
                  <a:pt x="18255" y="16108"/>
                  <a:pt x="19435" y="16108"/>
                </a:cubicBezTo>
                <a:cubicBezTo>
                  <a:pt x="20614" y="16108"/>
                  <a:pt x="21585" y="13561"/>
                  <a:pt x="21585" y="10427"/>
                </a:cubicBezTo>
                <a:cubicBezTo>
                  <a:pt x="21585" y="7292"/>
                  <a:pt x="20614" y="4794"/>
                  <a:pt x="19435" y="4794"/>
                </a:cubicBezTo>
                <a:close/>
                <a:moveTo>
                  <a:pt x="19435" y="13414"/>
                </a:moveTo>
                <a:cubicBezTo>
                  <a:pt x="18826" y="13414"/>
                  <a:pt x="18331" y="12092"/>
                  <a:pt x="18331" y="10427"/>
                </a:cubicBezTo>
                <a:cubicBezTo>
                  <a:pt x="18331" y="8810"/>
                  <a:pt x="18826" y="7439"/>
                  <a:pt x="19435" y="7439"/>
                </a:cubicBezTo>
                <a:cubicBezTo>
                  <a:pt x="20044" y="7439"/>
                  <a:pt x="20538" y="8810"/>
                  <a:pt x="20538" y="10427"/>
                </a:cubicBezTo>
                <a:cubicBezTo>
                  <a:pt x="20538" y="12092"/>
                  <a:pt x="20044" y="13414"/>
                  <a:pt x="19435" y="13414"/>
                </a:cubicBezTo>
                <a:close/>
                <a:moveTo>
                  <a:pt x="5999" y="5088"/>
                </a:moveTo>
                <a:cubicBezTo>
                  <a:pt x="5218" y="5088"/>
                  <a:pt x="5218" y="5088"/>
                  <a:pt x="5218" y="5088"/>
                </a:cubicBezTo>
                <a:cubicBezTo>
                  <a:pt x="5142" y="5088"/>
                  <a:pt x="5085" y="5235"/>
                  <a:pt x="5047" y="5382"/>
                </a:cubicBezTo>
                <a:cubicBezTo>
                  <a:pt x="4400" y="10574"/>
                  <a:pt x="4400" y="10574"/>
                  <a:pt x="4400" y="10574"/>
                </a:cubicBezTo>
                <a:cubicBezTo>
                  <a:pt x="3296" y="5039"/>
                  <a:pt x="3296" y="5039"/>
                  <a:pt x="3296" y="5039"/>
                </a:cubicBezTo>
                <a:cubicBezTo>
                  <a:pt x="3258" y="4892"/>
                  <a:pt x="3182" y="4794"/>
                  <a:pt x="3106" y="4794"/>
                </a:cubicBezTo>
                <a:cubicBezTo>
                  <a:pt x="3030" y="4794"/>
                  <a:pt x="3030" y="4794"/>
                  <a:pt x="3030" y="4794"/>
                </a:cubicBezTo>
                <a:cubicBezTo>
                  <a:pt x="2954" y="4794"/>
                  <a:pt x="2878" y="4892"/>
                  <a:pt x="2859" y="5039"/>
                </a:cubicBezTo>
                <a:cubicBezTo>
                  <a:pt x="1736" y="10574"/>
                  <a:pt x="1736" y="10574"/>
                  <a:pt x="1736" y="10574"/>
                </a:cubicBezTo>
                <a:cubicBezTo>
                  <a:pt x="1089" y="5382"/>
                  <a:pt x="1089" y="5382"/>
                  <a:pt x="1089" y="5382"/>
                </a:cubicBezTo>
                <a:cubicBezTo>
                  <a:pt x="1070" y="5235"/>
                  <a:pt x="994" y="5088"/>
                  <a:pt x="918" y="5088"/>
                </a:cubicBezTo>
                <a:cubicBezTo>
                  <a:pt x="137" y="5088"/>
                  <a:pt x="137" y="5088"/>
                  <a:pt x="137" y="5088"/>
                </a:cubicBezTo>
                <a:cubicBezTo>
                  <a:pt x="42" y="5088"/>
                  <a:pt x="-15" y="5284"/>
                  <a:pt x="4" y="5529"/>
                </a:cubicBezTo>
                <a:cubicBezTo>
                  <a:pt x="1298" y="15814"/>
                  <a:pt x="1298" y="15814"/>
                  <a:pt x="1298" y="15814"/>
                </a:cubicBezTo>
                <a:cubicBezTo>
                  <a:pt x="1317" y="15961"/>
                  <a:pt x="1393" y="16108"/>
                  <a:pt x="1450" y="16108"/>
                </a:cubicBezTo>
                <a:cubicBezTo>
                  <a:pt x="1565" y="16108"/>
                  <a:pt x="1565" y="16108"/>
                  <a:pt x="1565" y="16108"/>
                </a:cubicBezTo>
                <a:cubicBezTo>
                  <a:pt x="1641" y="16108"/>
                  <a:pt x="1717" y="15961"/>
                  <a:pt x="1755" y="15814"/>
                </a:cubicBezTo>
                <a:cubicBezTo>
                  <a:pt x="3068" y="9300"/>
                  <a:pt x="3068" y="9300"/>
                  <a:pt x="3068" y="9300"/>
                </a:cubicBezTo>
                <a:cubicBezTo>
                  <a:pt x="4381" y="15814"/>
                  <a:pt x="4381" y="15814"/>
                  <a:pt x="4381" y="15814"/>
                </a:cubicBezTo>
                <a:cubicBezTo>
                  <a:pt x="4419" y="15961"/>
                  <a:pt x="4495" y="16108"/>
                  <a:pt x="4571" y="16108"/>
                </a:cubicBezTo>
                <a:cubicBezTo>
                  <a:pt x="4686" y="16108"/>
                  <a:pt x="4686" y="16108"/>
                  <a:pt x="4686" y="16108"/>
                </a:cubicBezTo>
                <a:cubicBezTo>
                  <a:pt x="4743" y="16108"/>
                  <a:pt x="4819" y="15961"/>
                  <a:pt x="4838" y="15814"/>
                </a:cubicBezTo>
                <a:cubicBezTo>
                  <a:pt x="6132" y="5529"/>
                  <a:pt x="6132" y="5529"/>
                  <a:pt x="6132" y="5529"/>
                </a:cubicBezTo>
                <a:cubicBezTo>
                  <a:pt x="6170" y="5284"/>
                  <a:pt x="6113" y="5088"/>
                  <a:pt x="5999" y="5088"/>
                </a:cubicBezTo>
                <a:close/>
                <a:moveTo>
                  <a:pt x="7845" y="5088"/>
                </a:moveTo>
                <a:cubicBezTo>
                  <a:pt x="7045" y="5088"/>
                  <a:pt x="7045" y="5088"/>
                  <a:pt x="7045" y="5088"/>
                </a:cubicBezTo>
                <a:cubicBezTo>
                  <a:pt x="6950" y="5088"/>
                  <a:pt x="6874" y="5284"/>
                  <a:pt x="6874" y="5578"/>
                </a:cubicBezTo>
                <a:cubicBezTo>
                  <a:pt x="6874" y="15325"/>
                  <a:pt x="6874" y="15325"/>
                  <a:pt x="6874" y="15325"/>
                </a:cubicBezTo>
                <a:cubicBezTo>
                  <a:pt x="6874" y="15569"/>
                  <a:pt x="6950" y="15814"/>
                  <a:pt x="7045" y="15814"/>
                </a:cubicBezTo>
                <a:cubicBezTo>
                  <a:pt x="7845" y="15814"/>
                  <a:pt x="7845" y="15814"/>
                  <a:pt x="7845" y="15814"/>
                </a:cubicBezTo>
                <a:cubicBezTo>
                  <a:pt x="7940" y="15814"/>
                  <a:pt x="8035" y="15569"/>
                  <a:pt x="8035" y="15325"/>
                </a:cubicBezTo>
                <a:cubicBezTo>
                  <a:pt x="8035" y="5578"/>
                  <a:pt x="8035" y="5578"/>
                  <a:pt x="8035" y="5578"/>
                </a:cubicBezTo>
                <a:cubicBezTo>
                  <a:pt x="8035" y="5284"/>
                  <a:pt x="7940" y="5088"/>
                  <a:pt x="7845" y="5088"/>
                </a:cubicBezTo>
                <a:close/>
                <a:moveTo>
                  <a:pt x="11327" y="4794"/>
                </a:moveTo>
                <a:cubicBezTo>
                  <a:pt x="10775" y="4794"/>
                  <a:pt x="10281" y="5382"/>
                  <a:pt x="9919" y="6361"/>
                </a:cubicBezTo>
                <a:cubicBezTo>
                  <a:pt x="9919" y="6361"/>
                  <a:pt x="9919" y="6361"/>
                  <a:pt x="9919" y="6361"/>
                </a:cubicBezTo>
                <a:cubicBezTo>
                  <a:pt x="9767" y="5382"/>
                  <a:pt x="9767" y="5382"/>
                  <a:pt x="9767" y="5382"/>
                </a:cubicBezTo>
                <a:cubicBezTo>
                  <a:pt x="9748" y="5235"/>
                  <a:pt x="9672" y="5088"/>
                  <a:pt x="9615" y="5088"/>
                </a:cubicBezTo>
                <a:cubicBezTo>
                  <a:pt x="9234" y="5088"/>
                  <a:pt x="9234" y="5088"/>
                  <a:pt x="9234" y="5088"/>
                </a:cubicBezTo>
                <a:cubicBezTo>
                  <a:pt x="9139" y="5088"/>
                  <a:pt x="9063" y="5284"/>
                  <a:pt x="9063" y="5578"/>
                </a:cubicBezTo>
                <a:cubicBezTo>
                  <a:pt x="9063" y="21006"/>
                  <a:pt x="9063" y="21006"/>
                  <a:pt x="9063" y="21006"/>
                </a:cubicBezTo>
                <a:cubicBezTo>
                  <a:pt x="9063" y="21251"/>
                  <a:pt x="9139" y="21447"/>
                  <a:pt x="9234" y="21447"/>
                </a:cubicBezTo>
                <a:cubicBezTo>
                  <a:pt x="10033" y="21447"/>
                  <a:pt x="10033" y="21447"/>
                  <a:pt x="10033" y="21447"/>
                </a:cubicBezTo>
                <a:cubicBezTo>
                  <a:pt x="10128" y="21447"/>
                  <a:pt x="10224" y="21251"/>
                  <a:pt x="10224" y="21006"/>
                </a:cubicBezTo>
                <a:cubicBezTo>
                  <a:pt x="10224" y="15618"/>
                  <a:pt x="10224" y="15618"/>
                  <a:pt x="10224" y="15618"/>
                </a:cubicBezTo>
                <a:cubicBezTo>
                  <a:pt x="10547" y="15912"/>
                  <a:pt x="10928" y="16108"/>
                  <a:pt x="11327" y="16108"/>
                </a:cubicBezTo>
                <a:cubicBezTo>
                  <a:pt x="12431" y="16108"/>
                  <a:pt x="13345" y="13561"/>
                  <a:pt x="13345" y="10427"/>
                </a:cubicBezTo>
                <a:cubicBezTo>
                  <a:pt x="13345" y="7292"/>
                  <a:pt x="12431" y="4794"/>
                  <a:pt x="11327" y="4794"/>
                </a:cubicBezTo>
                <a:close/>
                <a:moveTo>
                  <a:pt x="11099" y="13414"/>
                </a:moveTo>
                <a:cubicBezTo>
                  <a:pt x="10775" y="13414"/>
                  <a:pt x="10471" y="13218"/>
                  <a:pt x="10224" y="12827"/>
                </a:cubicBezTo>
                <a:cubicBezTo>
                  <a:pt x="10224" y="8761"/>
                  <a:pt x="10224" y="8761"/>
                  <a:pt x="10224" y="8761"/>
                </a:cubicBezTo>
                <a:cubicBezTo>
                  <a:pt x="10414" y="7978"/>
                  <a:pt x="10737" y="7439"/>
                  <a:pt x="11099" y="7439"/>
                </a:cubicBezTo>
                <a:cubicBezTo>
                  <a:pt x="11689" y="7439"/>
                  <a:pt x="12165" y="8810"/>
                  <a:pt x="12165" y="10427"/>
                </a:cubicBezTo>
                <a:cubicBezTo>
                  <a:pt x="12165" y="12092"/>
                  <a:pt x="11689" y="13414"/>
                  <a:pt x="11099" y="13414"/>
                </a:cubicBezTo>
                <a:close/>
                <a:moveTo>
                  <a:pt x="16275" y="4794"/>
                </a:moveTo>
                <a:cubicBezTo>
                  <a:pt x="15514" y="4794"/>
                  <a:pt x="15057" y="6361"/>
                  <a:pt x="15057" y="6361"/>
                </a:cubicBezTo>
                <a:cubicBezTo>
                  <a:pt x="14924" y="5382"/>
                  <a:pt x="14924" y="5382"/>
                  <a:pt x="14924" y="5382"/>
                </a:cubicBezTo>
                <a:cubicBezTo>
                  <a:pt x="14905" y="5235"/>
                  <a:pt x="14829" y="5088"/>
                  <a:pt x="14753" y="5088"/>
                </a:cubicBezTo>
                <a:cubicBezTo>
                  <a:pt x="14391" y="5088"/>
                  <a:pt x="14391" y="5088"/>
                  <a:pt x="14391" y="5088"/>
                </a:cubicBezTo>
                <a:cubicBezTo>
                  <a:pt x="14296" y="5088"/>
                  <a:pt x="14201" y="5284"/>
                  <a:pt x="14201" y="5578"/>
                </a:cubicBezTo>
                <a:cubicBezTo>
                  <a:pt x="14201" y="15325"/>
                  <a:pt x="14201" y="15325"/>
                  <a:pt x="14201" y="15325"/>
                </a:cubicBezTo>
                <a:cubicBezTo>
                  <a:pt x="14201" y="15569"/>
                  <a:pt x="14296" y="15814"/>
                  <a:pt x="14391" y="15814"/>
                </a:cubicBezTo>
                <a:cubicBezTo>
                  <a:pt x="15191" y="15814"/>
                  <a:pt x="15191" y="15814"/>
                  <a:pt x="15191" y="15814"/>
                </a:cubicBezTo>
                <a:cubicBezTo>
                  <a:pt x="15286" y="15814"/>
                  <a:pt x="15362" y="15569"/>
                  <a:pt x="15362" y="15325"/>
                </a:cubicBezTo>
                <a:cubicBezTo>
                  <a:pt x="15362" y="8467"/>
                  <a:pt x="15362" y="8467"/>
                  <a:pt x="15362" y="8467"/>
                </a:cubicBezTo>
                <a:cubicBezTo>
                  <a:pt x="15838" y="7047"/>
                  <a:pt x="16428" y="7537"/>
                  <a:pt x="16542" y="7635"/>
                </a:cubicBezTo>
                <a:cubicBezTo>
                  <a:pt x="16656" y="7782"/>
                  <a:pt x="16751" y="7635"/>
                  <a:pt x="16789" y="7439"/>
                </a:cubicBezTo>
                <a:cubicBezTo>
                  <a:pt x="16827" y="7194"/>
                  <a:pt x="16999" y="6214"/>
                  <a:pt x="17056" y="5823"/>
                </a:cubicBezTo>
                <a:cubicBezTo>
                  <a:pt x="17132" y="5431"/>
                  <a:pt x="17037" y="4794"/>
                  <a:pt x="16275" y="4794"/>
                </a:cubicBezTo>
                <a:close/>
                <a:moveTo>
                  <a:pt x="7616" y="43"/>
                </a:moveTo>
                <a:cubicBezTo>
                  <a:pt x="7274" y="-153"/>
                  <a:pt x="6912" y="337"/>
                  <a:pt x="6836" y="1218"/>
                </a:cubicBezTo>
                <a:cubicBezTo>
                  <a:pt x="6741" y="2100"/>
                  <a:pt x="6931" y="3031"/>
                  <a:pt x="7274" y="3276"/>
                </a:cubicBezTo>
                <a:cubicBezTo>
                  <a:pt x="7616" y="3471"/>
                  <a:pt x="7978" y="2982"/>
                  <a:pt x="8073" y="2100"/>
                </a:cubicBezTo>
                <a:cubicBezTo>
                  <a:pt x="8168" y="1218"/>
                  <a:pt x="7959" y="288"/>
                  <a:pt x="7616" y="43"/>
                </a:cubicBezTo>
                <a:close/>
              </a:path>
            </a:pathLst>
          </a:custGeom>
          <a:solidFill>
            <a:srgbClr val="FFFFFF"/>
          </a:solidFill>
          <a:ln w="3175">
            <a:miter lim="400000"/>
          </a:ln>
        </p:spPr>
        <p:txBody>
          <a:bodyPr lIns="0" tIns="0" rIns="0" bIns="0"/>
          <a:lstStyle/>
          <a:p>
            <a:pPr defTabSz="277402">
              <a:defRPr sz="1000" b="1">
                <a:solidFill>
                  <a:srgbClr val="FFFFFF"/>
                </a:solidFill>
                <a:latin typeface="Arial"/>
                <a:ea typeface="Arial"/>
                <a:cs typeface="Arial"/>
                <a:sym typeface="Arial"/>
              </a:defRPr>
            </a:pPr>
            <a:endParaRPr/>
          </a:p>
        </p:txBody>
      </p:sp>
      <p:sp>
        <p:nvSpPr>
          <p:cNvPr id="3378" name="TextBox 77"/>
          <p:cNvSpPr txBox="1"/>
          <p:nvPr/>
        </p:nvSpPr>
        <p:spPr>
          <a:xfrm>
            <a:off x="11027554" y="6662587"/>
            <a:ext cx="916134"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lgn="ctr">
              <a:defRPr sz="800" b="1">
                <a:solidFill>
                  <a:srgbClr val="FFFFFF"/>
                </a:solidFill>
                <a:latin typeface="Arial"/>
                <a:ea typeface="Arial"/>
                <a:cs typeface="Arial"/>
                <a:sym typeface="Arial"/>
              </a:defRPr>
            </a:lvl1pPr>
          </a:lstStyle>
          <a:p>
            <a:r>
              <a:t>confidential</a:t>
            </a:r>
          </a:p>
        </p:txBody>
      </p:sp>
      <p:sp>
        <p:nvSpPr>
          <p:cNvPr id="3379" name="Slide Number"/>
          <p:cNvSpPr txBox="1">
            <a:spLocks noGrp="1"/>
          </p:cNvSpPr>
          <p:nvPr>
            <p:ph type="sldNum" sz="quarter" idx="2"/>
          </p:nvPr>
        </p:nvSpPr>
        <p:spPr>
          <a:xfrm>
            <a:off x="11428438" y="6380072"/>
            <a:ext cx="153963" cy="152401"/>
          </a:xfrm>
          <a:prstGeom prst="rect">
            <a:avLst/>
          </a:prstGeom>
        </p:spPr>
        <p:txBody>
          <a:bodyPr lIns="0" tIns="0" rIns="0" bIns="0" anchor="t"/>
          <a:lstStyle>
            <a:lvl1pPr defTabSz="554804">
              <a:defRPr sz="1000">
                <a:latin typeface="+mj-lt"/>
                <a:ea typeface="+mj-ea"/>
                <a:cs typeface="+mj-cs"/>
                <a:sym typeface="Helvetica"/>
              </a:defRPr>
            </a:lvl1p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1/2 card v2">
    <p:bg>
      <p:bgPr>
        <a:solidFill>
          <a:srgbClr val="FFFFFF"/>
        </a:solidFill>
        <a:effectLst/>
      </p:bgPr>
    </p:bg>
    <p:spTree>
      <p:nvGrpSpPr>
        <p:cNvPr id="1" name=""/>
        <p:cNvGrpSpPr/>
        <p:nvPr/>
      </p:nvGrpSpPr>
      <p:grpSpPr>
        <a:xfrm>
          <a:off x="0" y="0"/>
          <a:ext cx="0" cy="0"/>
          <a:chOff x="0" y="0"/>
          <a:chExt cx="0" cy="0"/>
        </a:xfrm>
      </p:grpSpPr>
      <p:sp>
        <p:nvSpPr>
          <p:cNvPr id="3774" name="process.psd"/>
          <p:cNvSpPr>
            <a:spLocks noGrp="1"/>
          </p:cNvSpPr>
          <p:nvPr>
            <p:ph type="pic" idx="21"/>
          </p:nvPr>
        </p:nvSpPr>
        <p:spPr>
          <a:xfrm>
            <a:off x="0" y="0"/>
            <a:ext cx="12192000" cy="6858000"/>
          </a:xfrm>
          <a:prstGeom prst="rect">
            <a:avLst/>
          </a:prstGeom>
        </p:spPr>
        <p:txBody>
          <a:bodyPr lIns="91439" rIns="91439">
            <a:noAutofit/>
          </a:bodyPr>
          <a:lstStyle/>
          <a:p>
            <a:endParaRPr/>
          </a:p>
        </p:txBody>
      </p:sp>
      <p:sp>
        <p:nvSpPr>
          <p:cNvPr id="3775" name="Rectangle"/>
          <p:cNvSpPr>
            <a:spLocks noGrp="1"/>
          </p:cNvSpPr>
          <p:nvPr>
            <p:ph type="body" idx="22"/>
          </p:nvPr>
        </p:nvSpPr>
        <p:spPr>
          <a:xfrm>
            <a:off x="318352" y="318280"/>
            <a:ext cx="5742246" cy="6221440"/>
          </a:xfrm>
          <a:prstGeom prst="rect">
            <a:avLst/>
          </a:prstGeom>
          <a:solidFill>
            <a:srgbClr val="FFFFFF">
              <a:alpha val="89687"/>
            </a:srgbClr>
          </a:solidFill>
          <a:ln w="3175"/>
        </p:spPr>
        <p:txBody>
          <a:bodyPr lIns="0" tIns="0" rIns="0" bIns="0" anchor="ctr">
            <a:noAutofit/>
          </a:bodyPr>
          <a:lstStyle/>
          <a:p>
            <a:pPr marL="0" indent="0" algn="ctr" defTabSz="412750">
              <a:lnSpc>
                <a:spcPct val="100000"/>
              </a:lnSpc>
              <a:spcBef>
                <a:spcPts val="0"/>
              </a:spcBef>
              <a:buSzTx/>
              <a:buFontTx/>
              <a:buNone/>
              <a:defRPr sz="1600">
                <a:solidFill>
                  <a:srgbClr val="FFFFFF"/>
                </a:solidFill>
                <a:latin typeface="Helvetica Neue Medium"/>
                <a:ea typeface="Helvetica Neue Medium"/>
                <a:cs typeface="Helvetica Neue Medium"/>
                <a:sym typeface="Helvetica Neue Medium"/>
              </a:defRPr>
            </a:pPr>
            <a:endParaRPr/>
          </a:p>
        </p:txBody>
      </p:sp>
      <p:pic>
        <p:nvPicPr>
          <p:cNvPr id="3776" name="Image" descr="Image"/>
          <p:cNvPicPr>
            <a:picLocks noChangeAspect="1"/>
          </p:cNvPicPr>
          <p:nvPr/>
        </p:nvPicPr>
        <p:blipFill>
          <a:blip r:embed="rId2"/>
          <a:stretch>
            <a:fillRect/>
          </a:stretch>
        </p:blipFill>
        <p:spPr>
          <a:xfrm>
            <a:off x="603250" y="6000750"/>
            <a:ext cx="254000" cy="254000"/>
          </a:xfrm>
          <a:prstGeom prst="rect">
            <a:avLst/>
          </a:prstGeom>
          <a:ln w="12700">
            <a:miter lim="400000"/>
          </a:ln>
        </p:spPr>
      </p:pic>
      <p:sp>
        <p:nvSpPr>
          <p:cNvPr id="3777" name="Image"/>
          <p:cNvSpPr>
            <a:spLocks noGrp="1"/>
          </p:cNvSpPr>
          <p:nvPr>
            <p:ph type="pic" sz="quarter" idx="23"/>
          </p:nvPr>
        </p:nvSpPr>
        <p:spPr>
          <a:xfrm>
            <a:off x="603586" y="5999162"/>
            <a:ext cx="254001" cy="254001"/>
          </a:xfrm>
          <a:prstGeom prst="rect">
            <a:avLst/>
          </a:prstGeom>
        </p:spPr>
        <p:txBody>
          <a:bodyPr lIns="91439" rIns="91439">
            <a:noAutofit/>
          </a:bodyPr>
          <a:lstStyle/>
          <a:p>
            <a:endParaRPr/>
          </a:p>
        </p:txBody>
      </p:sp>
      <p:sp>
        <p:nvSpPr>
          <p:cNvPr id="3778" name="This is a bit longer headline, where you can fit in more information"/>
          <p:cNvSpPr txBox="1">
            <a:spLocks noGrp="1"/>
          </p:cNvSpPr>
          <p:nvPr>
            <p:ph type="body" sz="quarter" idx="24"/>
          </p:nvPr>
        </p:nvSpPr>
        <p:spPr>
          <a:xfrm>
            <a:off x="637092" y="1487608"/>
            <a:ext cx="4481863" cy="2020571"/>
          </a:xfrm>
          <a:prstGeom prst="rect">
            <a:avLst/>
          </a:prstGeom>
          <a:ln w="3175"/>
        </p:spPr>
        <p:txBody>
          <a:bodyPr lIns="0" tIns="0" rIns="0" bIns="0" anchor="b">
            <a:spAutoFit/>
          </a:bodyPr>
          <a:lstStyle>
            <a:lvl1pPr marL="0" indent="0" defTabSz="323850">
              <a:spcBef>
                <a:spcPts val="0"/>
              </a:spcBef>
              <a:buSzTx/>
              <a:buFontTx/>
              <a:buNone/>
              <a:tabLst>
                <a:tab pos="241300" algn="l"/>
                <a:tab pos="495300" algn="l"/>
                <a:tab pos="762000" algn="l"/>
                <a:tab pos="1003300" algn="l"/>
                <a:tab pos="1257300" algn="l"/>
                <a:tab pos="1511300" algn="l"/>
                <a:tab pos="1765300" algn="l"/>
                <a:tab pos="2019300" algn="l"/>
                <a:tab pos="2273300" algn="l"/>
                <a:tab pos="2527300" algn="l"/>
                <a:tab pos="2781300" algn="l"/>
                <a:tab pos="3035300" algn="l"/>
              </a:tabLst>
              <a:defRPr sz="3600" b="1" spc="-72">
                <a:latin typeface="+mj-lt"/>
                <a:ea typeface="+mj-ea"/>
                <a:cs typeface="+mj-cs"/>
                <a:sym typeface="Helvetica"/>
              </a:defRPr>
            </a:lvl1pPr>
          </a:lstStyle>
          <a:p>
            <a:r>
              <a:t>This is a bit longer headline, where you can fit in more information</a:t>
            </a:r>
          </a:p>
        </p:txBody>
      </p:sp>
      <p:sp>
        <p:nvSpPr>
          <p:cNvPr id="3779" name="Lorem ipsum dolor sitamet, consectetur adipiscing elit, sed do eiusmod tempor incididunt ut labore et dolore magna aliqua. enim ad minim veniam, quis nostrud Lorem ipsum dolor sitamet, consectetur adipiscing elit, sed do eiusmod tempor incididunt ut labo"/>
          <p:cNvSpPr txBox="1">
            <a:spLocks noGrp="1"/>
          </p:cNvSpPr>
          <p:nvPr>
            <p:ph type="body" sz="quarter" idx="25"/>
          </p:nvPr>
        </p:nvSpPr>
        <p:spPr>
          <a:xfrm>
            <a:off x="637092" y="3746366"/>
            <a:ext cx="2647288" cy="1884681"/>
          </a:xfrm>
          <a:prstGeom prst="rect">
            <a:avLst/>
          </a:prstGeom>
          <a:ln w="3175"/>
        </p:spPr>
        <p:txBody>
          <a:bodyPr lIns="0" tIns="0" rIns="0" bIns="0">
            <a:spAutoFit/>
          </a:bodyPr>
          <a:lstStyle>
            <a:lvl1pPr marL="0" indent="0" defTabSz="412750">
              <a:lnSpc>
                <a:spcPct val="120000"/>
              </a:lnSpc>
              <a:spcBef>
                <a:spcPts val="0"/>
              </a:spcBef>
              <a:buSzTx/>
              <a:buFontTx/>
              <a:buNone/>
              <a:defRPr sz="1200">
                <a:latin typeface="+mj-lt"/>
                <a:ea typeface="+mj-ea"/>
                <a:cs typeface="+mj-cs"/>
                <a:sym typeface="Helvetica"/>
              </a:defRPr>
            </a:lvl1pPr>
          </a:lstStyle>
          <a:p>
            <a:r>
              <a:t>Lorem ipsum dolor sitamet, consectetur adipiscing elit, sed do eiusmod tempor incididunt ut labore et dolore magna aliqua. enim ad minim veniam, quis nostrud Lorem ipsum dolor sitamet, consectetur adipiscing elit, sed do eiusmod tempor incididunt ut labore et dolore magna aliqua. enim ad minim veniam, quis nostrud </a:t>
            </a:r>
          </a:p>
        </p:txBody>
      </p:sp>
      <p:grpSp>
        <p:nvGrpSpPr>
          <p:cNvPr id="3785" name="Group"/>
          <p:cNvGrpSpPr/>
          <p:nvPr/>
        </p:nvGrpSpPr>
        <p:grpSpPr>
          <a:xfrm>
            <a:off x="2703330" y="-611717"/>
            <a:ext cx="6785340" cy="1270001"/>
            <a:chOff x="777618" y="254000"/>
            <a:chExt cx="6785338" cy="1270000"/>
          </a:xfrm>
        </p:grpSpPr>
        <p:sp>
          <p:nvSpPr>
            <p:cNvPr id="3780" name="Replace this image by dragging and dropping"/>
            <p:cNvSpPr/>
            <p:nvPr/>
          </p:nvSpPr>
          <p:spPr>
            <a:xfrm>
              <a:off x="4170288" y="254000"/>
              <a:ext cx="1270001" cy="1270001"/>
            </a:xfrm>
            <a:prstGeom prst="line">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5400" tIns="25400" rIns="25400" bIns="25400" numCol="1" anchor="ctr">
              <a:spAutoFit/>
            </a:bodyPr>
            <a:lstStyle>
              <a:lvl1pPr algn="ctr" defTabSz="412750">
                <a:lnSpc>
                  <a:spcPct val="120000"/>
                </a:lnSpc>
                <a:defRPr sz="3000" b="1">
                  <a:latin typeface="+mj-lt"/>
                  <a:ea typeface="+mj-ea"/>
                  <a:cs typeface="+mj-cs"/>
                  <a:sym typeface="Helvetica"/>
                </a:defRPr>
              </a:lvl1pPr>
            </a:lstStyle>
            <a:p>
              <a:r>
                <a:t>Replace this image by dragging and dropping</a:t>
              </a:r>
            </a:p>
          </p:txBody>
        </p:sp>
        <p:grpSp>
          <p:nvGrpSpPr>
            <p:cNvPr id="3784" name="Group"/>
            <p:cNvGrpSpPr/>
            <p:nvPr/>
          </p:nvGrpSpPr>
          <p:grpSpPr>
            <a:xfrm>
              <a:off x="777618" y="472413"/>
              <a:ext cx="6785340" cy="344621"/>
              <a:chOff x="0" y="0"/>
              <a:chExt cx="6785338" cy="344619"/>
            </a:xfrm>
          </p:grpSpPr>
          <p:sp>
            <p:nvSpPr>
              <p:cNvPr id="3781" name="Arrow"/>
              <p:cNvSpPr/>
              <p:nvPr/>
            </p:nvSpPr>
            <p:spPr>
              <a:xfrm rot="5400000">
                <a:off x="6440718" y="0"/>
                <a:ext cx="344621" cy="344620"/>
              </a:xfrm>
              <a:prstGeom prst="rightArrow">
                <a:avLst>
                  <a:gd name="adj1" fmla="val 32000"/>
                  <a:gd name="adj2" fmla="val 64000"/>
                </a:avLst>
              </a:prstGeom>
              <a:solidFill>
                <a:srgbClr val="000000"/>
              </a:solidFill>
              <a:ln w="3175" cap="flat">
                <a:noFill/>
                <a:miter lim="400000"/>
              </a:ln>
              <a:effectLst/>
            </p:spPr>
            <p:txBody>
              <a:bodyPr wrap="square" lIns="0" tIns="0" rIns="0" bIns="0" numCol="1" anchor="ctr">
                <a:noAutofit/>
              </a:bodyPr>
              <a:lstStyle/>
              <a:p>
                <a:pPr algn="ctr" defTabSz="412750">
                  <a:defRPr sz="1600">
                    <a:solidFill>
                      <a:srgbClr val="FFFFFF"/>
                    </a:solidFill>
                    <a:latin typeface="Helvetica Neue Medium"/>
                    <a:ea typeface="Helvetica Neue Medium"/>
                    <a:cs typeface="Helvetica Neue Medium"/>
                    <a:sym typeface="Helvetica Neue Medium"/>
                  </a:defRPr>
                </a:pPr>
                <a:endParaRPr/>
              </a:p>
            </p:txBody>
          </p:sp>
          <p:sp>
            <p:nvSpPr>
              <p:cNvPr id="3782" name="Arrow"/>
              <p:cNvSpPr/>
              <p:nvPr/>
            </p:nvSpPr>
            <p:spPr>
              <a:xfrm rot="5400000">
                <a:off x="3220359" y="0"/>
                <a:ext cx="344621" cy="344620"/>
              </a:xfrm>
              <a:prstGeom prst="rightArrow">
                <a:avLst>
                  <a:gd name="adj1" fmla="val 32000"/>
                  <a:gd name="adj2" fmla="val 64000"/>
                </a:avLst>
              </a:prstGeom>
              <a:solidFill>
                <a:srgbClr val="000000"/>
              </a:solidFill>
              <a:ln w="3175" cap="flat">
                <a:noFill/>
                <a:miter lim="400000"/>
              </a:ln>
              <a:effectLst/>
            </p:spPr>
            <p:txBody>
              <a:bodyPr wrap="square" lIns="0" tIns="0" rIns="0" bIns="0" numCol="1" anchor="ctr">
                <a:noAutofit/>
              </a:bodyPr>
              <a:lstStyle/>
              <a:p>
                <a:pPr algn="ctr" defTabSz="412750">
                  <a:defRPr sz="1600">
                    <a:solidFill>
                      <a:srgbClr val="FFFFFF"/>
                    </a:solidFill>
                    <a:latin typeface="Helvetica Neue Medium"/>
                    <a:ea typeface="Helvetica Neue Medium"/>
                    <a:cs typeface="Helvetica Neue Medium"/>
                    <a:sym typeface="Helvetica Neue Medium"/>
                  </a:defRPr>
                </a:pPr>
                <a:endParaRPr/>
              </a:p>
            </p:txBody>
          </p:sp>
          <p:sp>
            <p:nvSpPr>
              <p:cNvPr id="3783" name="Arrow"/>
              <p:cNvSpPr/>
              <p:nvPr/>
            </p:nvSpPr>
            <p:spPr>
              <a:xfrm rot="5400000">
                <a:off x="-1" y="0"/>
                <a:ext cx="344621" cy="344620"/>
              </a:xfrm>
              <a:prstGeom prst="rightArrow">
                <a:avLst>
                  <a:gd name="adj1" fmla="val 32000"/>
                  <a:gd name="adj2" fmla="val 64000"/>
                </a:avLst>
              </a:prstGeom>
              <a:solidFill>
                <a:srgbClr val="000000"/>
              </a:solidFill>
              <a:ln w="3175" cap="flat">
                <a:noFill/>
                <a:miter lim="400000"/>
              </a:ln>
              <a:effectLst/>
            </p:spPr>
            <p:txBody>
              <a:bodyPr wrap="square" lIns="0" tIns="0" rIns="0" bIns="0" numCol="1" anchor="ctr">
                <a:noAutofit/>
              </a:bodyPr>
              <a:lstStyle/>
              <a:p>
                <a:pPr algn="ctr" defTabSz="412750">
                  <a:defRPr sz="1600">
                    <a:solidFill>
                      <a:srgbClr val="FFFFFF"/>
                    </a:solidFill>
                    <a:latin typeface="Helvetica Neue Medium"/>
                    <a:ea typeface="Helvetica Neue Medium"/>
                    <a:cs typeface="Helvetica Neue Medium"/>
                    <a:sym typeface="Helvetica Neue Medium"/>
                  </a:defRPr>
                </a:pPr>
                <a:endParaRPr/>
              </a:p>
            </p:txBody>
          </p:sp>
        </p:grpSp>
      </p:grpSp>
      <p:sp>
        <p:nvSpPr>
          <p:cNvPr id="3786" name="Slide Number"/>
          <p:cNvSpPr txBox="1">
            <a:spLocks noGrp="1"/>
          </p:cNvSpPr>
          <p:nvPr>
            <p:ph type="sldNum" sz="quarter" idx="2"/>
          </p:nvPr>
        </p:nvSpPr>
        <p:spPr>
          <a:xfrm>
            <a:off x="11446764" y="635000"/>
            <a:ext cx="127001" cy="127000"/>
          </a:xfrm>
          <a:prstGeom prst="rect">
            <a:avLst/>
          </a:prstGeom>
        </p:spPr>
        <p:txBody>
          <a:bodyPr lIns="0" tIns="0" rIns="0" bIns="0" anchor="t">
            <a:normAutofit/>
          </a:bodyPr>
          <a:lstStyle>
            <a:lvl1pPr>
              <a:lnSpc>
                <a:spcPct val="120000"/>
              </a:lnSpc>
              <a:defRPr sz="700">
                <a:solidFill>
                  <a:srgbClr val="000000"/>
                </a:solidFill>
                <a:latin typeface="+mj-lt"/>
                <a:ea typeface="+mj-ea"/>
                <a:cs typeface="+mj-cs"/>
                <a:sym typeface="Helvetica"/>
              </a:defRPr>
            </a:lvl1pPr>
          </a:lstStyle>
          <a:p>
            <a:fld id="{86CB4B4D-7CA3-9044-876B-883B54F8677D}" type="slidenum">
              <a:rPr/>
              <a:t>‹#›</a:t>
            </a:fld>
            <a:endParaRPr/>
          </a:p>
        </p:txBody>
      </p:sp>
    </p:spTree>
    <p:extLst>
      <p:ext uri="{BB962C8B-B14F-4D97-AF65-F5344CB8AC3E}">
        <p14:creationId xmlns:p14="http://schemas.microsoft.com/office/powerpoint/2010/main" val="381205457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ase Optional - 4slides">
    <p:bg>
      <p:bgPr>
        <a:solidFill>
          <a:schemeClr val="accent6">
            <a:lumOff val="100000"/>
          </a:schemeClr>
        </a:solidFill>
        <a:effectLst/>
      </p:bgPr>
    </p:bg>
    <p:spTree>
      <p:nvGrpSpPr>
        <p:cNvPr id="1" name=""/>
        <p:cNvGrpSpPr/>
        <p:nvPr/>
      </p:nvGrpSpPr>
      <p:grpSpPr>
        <a:xfrm>
          <a:off x="0" y="0"/>
          <a:ext cx="0" cy="0"/>
          <a:chOff x="0" y="0"/>
          <a:chExt cx="0" cy="0"/>
        </a:xfrm>
      </p:grpSpPr>
      <p:sp>
        <p:nvSpPr>
          <p:cNvPr id="83" name="Our Approach"/>
          <p:cNvSpPr txBox="1">
            <a:spLocks noGrp="1"/>
          </p:cNvSpPr>
          <p:nvPr>
            <p:ph type="body" sz="quarter" idx="21"/>
          </p:nvPr>
        </p:nvSpPr>
        <p:spPr>
          <a:xfrm>
            <a:off x="634513" y="1449933"/>
            <a:ext cx="2430001" cy="318549"/>
          </a:xfrm>
          <a:prstGeom prst="rect">
            <a:avLst/>
          </a:prstGeom>
        </p:spPr>
        <p:txBody>
          <a:bodyPr lIns="0" tIns="0" rIns="0" bIns="0">
            <a:spAutoFit/>
          </a:bodyPr>
          <a:lstStyle>
            <a:lvl1pPr defTabSz="323850">
              <a:lnSpc>
                <a:spcPct val="90000"/>
              </a:lnSpc>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sz="2300" spc="-46">
                <a:solidFill>
                  <a:schemeClr val="accent6"/>
                </a:solidFill>
                <a:latin typeface="HelveticaNeueLT Std Med"/>
                <a:ea typeface="HelveticaNeueLT Std Med"/>
                <a:cs typeface="HelveticaNeueLT Std Med"/>
                <a:sym typeface="Helvetica Neue LT Std 85 Heavy"/>
              </a:defRPr>
            </a:lvl1pPr>
          </a:lstStyle>
          <a:p>
            <a:r>
              <a:t>Our Approach</a:t>
            </a:r>
          </a:p>
        </p:txBody>
      </p:sp>
      <p:pic>
        <p:nvPicPr>
          <p:cNvPr id="84" name="Smile_Black_RGB.ai" descr="Smile_Black_RGB.ai"/>
          <p:cNvPicPr>
            <a:picLocks noChangeAspect="1"/>
          </p:cNvPicPr>
          <p:nvPr/>
        </p:nvPicPr>
        <p:blipFill>
          <a:blip r:embed="rId2"/>
          <a:stretch>
            <a:fillRect/>
          </a:stretch>
        </p:blipFill>
        <p:spPr>
          <a:xfrm>
            <a:off x="635400" y="5968800"/>
            <a:ext cx="253801" cy="253801"/>
          </a:xfrm>
          <a:prstGeom prst="rect">
            <a:avLst/>
          </a:prstGeom>
          <a:ln w="12700">
            <a:miter lim="400000"/>
          </a:ln>
        </p:spPr>
      </p:pic>
      <p:sp>
        <p:nvSpPr>
          <p:cNvPr id="85" name="Image"/>
          <p:cNvSpPr>
            <a:spLocks noGrp="1"/>
          </p:cNvSpPr>
          <p:nvPr>
            <p:ph type="pic" sz="quarter" idx="22"/>
          </p:nvPr>
        </p:nvSpPr>
        <p:spPr>
          <a:xfrm>
            <a:off x="634513" y="554458"/>
            <a:ext cx="546776" cy="176041"/>
          </a:xfrm>
          <a:prstGeom prst="rect">
            <a:avLst/>
          </a:prstGeom>
        </p:spPr>
        <p:txBody>
          <a:bodyPr lIns="91439" tIns="45719" rIns="91439" bIns="45719">
            <a:noAutofit/>
          </a:bodyPr>
          <a:lstStyle/>
          <a:p>
            <a:endParaRPr/>
          </a:p>
        </p:txBody>
      </p:sp>
      <p:sp>
        <p:nvSpPr>
          <p:cNvPr id="86" name="Image"/>
          <p:cNvSpPr>
            <a:spLocks noGrp="1"/>
          </p:cNvSpPr>
          <p:nvPr>
            <p:ph type="pic" sz="quarter" idx="23"/>
          </p:nvPr>
        </p:nvSpPr>
        <p:spPr>
          <a:xfrm>
            <a:off x="7861469" y="908249"/>
            <a:ext cx="4406110" cy="2474537"/>
          </a:xfrm>
          <a:prstGeom prst="rect">
            <a:avLst/>
          </a:prstGeom>
          <a:effectLst>
            <a:outerShdw blurRad="457200" dist="635000" dir="5400000" rotWithShape="0">
              <a:schemeClr val="accent6">
                <a:alpha val="15107"/>
              </a:schemeClr>
            </a:outerShdw>
          </a:effectLst>
        </p:spPr>
        <p:txBody>
          <a:bodyPr lIns="91439" tIns="45719" rIns="91439" bIns="45719">
            <a:noAutofit/>
          </a:bodyPr>
          <a:lstStyle/>
          <a:p>
            <a:endParaRPr/>
          </a:p>
        </p:txBody>
      </p:sp>
      <p:sp>
        <p:nvSpPr>
          <p:cNvPr id="87" name="Image"/>
          <p:cNvSpPr>
            <a:spLocks noGrp="1"/>
          </p:cNvSpPr>
          <p:nvPr>
            <p:ph type="pic" sz="quarter" idx="24"/>
          </p:nvPr>
        </p:nvSpPr>
        <p:spPr>
          <a:xfrm>
            <a:off x="3485900" y="908249"/>
            <a:ext cx="4405425" cy="2474537"/>
          </a:xfrm>
          <a:prstGeom prst="rect">
            <a:avLst/>
          </a:prstGeom>
          <a:effectLst>
            <a:outerShdw blurRad="457200" dist="635000" dir="5400000" rotWithShape="0">
              <a:schemeClr val="accent6">
                <a:alpha val="15107"/>
              </a:schemeClr>
            </a:outerShdw>
          </a:effectLst>
        </p:spPr>
        <p:txBody>
          <a:bodyPr lIns="91439" tIns="45719" rIns="91439" bIns="45719">
            <a:noAutofit/>
          </a:bodyPr>
          <a:lstStyle/>
          <a:p>
            <a:endParaRPr/>
          </a:p>
        </p:txBody>
      </p:sp>
      <p:sp>
        <p:nvSpPr>
          <p:cNvPr id="88" name="Image"/>
          <p:cNvSpPr>
            <a:spLocks noGrp="1"/>
          </p:cNvSpPr>
          <p:nvPr>
            <p:ph type="pic" sz="quarter" idx="25"/>
          </p:nvPr>
        </p:nvSpPr>
        <p:spPr>
          <a:xfrm>
            <a:off x="3486773" y="3451558"/>
            <a:ext cx="4403677" cy="2474537"/>
          </a:xfrm>
          <a:prstGeom prst="rect">
            <a:avLst/>
          </a:prstGeom>
          <a:effectLst>
            <a:outerShdw blurRad="457200" dist="635000" dir="5400000" rotWithShape="0">
              <a:schemeClr val="accent6">
                <a:alpha val="15107"/>
              </a:schemeClr>
            </a:outerShdw>
          </a:effectLst>
        </p:spPr>
        <p:txBody>
          <a:bodyPr lIns="91439" tIns="45719" rIns="91439" bIns="45719">
            <a:noAutofit/>
          </a:bodyPr>
          <a:lstStyle/>
          <a:p>
            <a:endParaRPr/>
          </a:p>
        </p:txBody>
      </p:sp>
      <p:sp>
        <p:nvSpPr>
          <p:cNvPr id="89" name="Image"/>
          <p:cNvSpPr>
            <a:spLocks noGrp="1"/>
          </p:cNvSpPr>
          <p:nvPr>
            <p:ph type="pic" sz="quarter" idx="26"/>
          </p:nvPr>
        </p:nvSpPr>
        <p:spPr>
          <a:xfrm>
            <a:off x="7874169" y="3451558"/>
            <a:ext cx="4406110" cy="2474537"/>
          </a:xfrm>
          <a:prstGeom prst="rect">
            <a:avLst/>
          </a:prstGeom>
          <a:effectLst>
            <a:outerShdw blurRad="457200" dist="635000" dir="5400000" rotWithShape="0">
              <a:schemeClr val="accent6">
                <a:alpha val="15107"/>
              </a:schemeClr>
            </a:outerShdw>
          </a:effectLst>
        </p:spPr>
        <p:txBody>
          <a:bodyPr lIns="91439" tIns="45719" rIns="91439" bIns="45719">
            <a:noAutofit/>
          </a:bodyPr>
          <a:lstStyle/>
          <a:p>
            <a:endParaRPr/>
          </a:p>
        </p:txBody>
      </p:sp>
      <p:sp>
        <p:nvSpPr>
          <p:cNvPr id="90" name="What was unique about our approach to the challenge (process, working model, team structure, etc.,)…"/>
          <p:cNvSpPr>
            <a:spLocks noGrp="1"/>
          </p:cNvSpPr>
          <p:nvPr>
            <p:ph type="body" sz="quarter" idx="27"/>
          </p:nvPr>
        </p:nvSpPr>
        <p:spPr>
          <a:xfrm>
            <a:off x="634513" y="2616200"/>
            <a:ext cx="2157018" cy="2961809"/>
          </a:xfrm>
          <a:prstGeom prst="rect">
            <a:avLst/>
          </a:prstGeom>
        </p:spPr>
        <p:txBody>
          <a:bodyPr lIns="0" tIns="0" rIns="0" bIns="0">
            <a:noAutofit/>
          </a:bodyPr>
          <a:lstStyle>
            <a:lvl1pPr marL="100263" indent="-100263" defTabSz="412750">
              <a:buSzPct val="30000"/>
              <a:buChar char="-"/>
              <a:tabLst/>
              <a:defRPr sz="2000" spc="0">
                <a:solidFill>
                  <a:schemeClr val="accent6"/>
                </a:solidFill>
                <a:latin typeface="+mn-lt"/>
                <a:ea typeface="+mn-ea"/>
                <a:cs typeface="+mn-cs"/>
                <a:sym typeface="Helvetica Neue LT Std 45 Light"/>
              </a:defRPr>
            </a:lvl1pPr>
          </a:lstStyle>
          <a:p>
            <a:pPr defTabSz="825500">
              <a:tabLst/>
              <a:defRPr sz="2000" spc="0">
                <a:solidFill>
                  <a:schemeClr val="accent6"/>
                </a:solidFill>
                <a:latin typeface="+mn-lt"/>
                <a:ea typeface="+mn-ea"/>
                <a:cs typeface="+mn-cs"/>
                <a:sym typeface="Helvetica Neue LT Std 45 Light"/>
              </a:defRPr>
            </a:pPr>
            <a:r>
              <a:t>What was</a:t>
            </a:r>
            <a:r>
              <a:rPr>
                <a:latin typeface="Helvetica Neue LT Std 75 Bold"/>
                <a:ea typeface="Helvetica Neue LT Std 75 Bold"/>
                <a:cs typeface="Helvetica Neue LT Std 75 Bold"/>
                <a:sym typeface="Helvetica Neue LT Std 75 Bold"/>
              </a:rPr>
              <a:t> </a:t>
            </a:r>
            <a:r>
              <a:t>unique</a:t>
            </a:r>
            <a:r>
              <a:rPr>
                <a:latin typeface="Helvetica Neue LT Std 75 Bold"/>
                <a:ea typeface="Helvetica Neue LT Std 75 Bold"/>
                <a:cs typeface="Helvetica Neue LT Std 75 Bold"/>
                <a:sym typeface="Helvetica Neue LT Std 75 Bold"/>
              </a:rPr>
              <a:t> </a:t>
            </a:r>
            <a:r>
              <a:t>about our approach to the challenge (process, working model, team structure, etc.,)</a:t>
            </a:r>
          </a:p>
          <a:p>
            <a:pPr defTabSz="825500">
              <a:tabLst/>
              <a:defRPr sz="2000" spc="0">
                <a:solidFill>
                  <a:schemeClr val="accent6"/>
                </a:solidFill>
                <a:latin typeface="+mn-lt"/>
                <a:ea typeface="+mn-ea"/>
                <a:cs typeface="+mn-cs"/>
                <a:sym typeface="Helvetica Neue LT Std 45 Light"/>
              </a:defRPr>
            </a:pPr>
            <a:endParaRPr/>
          </a:p>
          <a:p>
            <a:pPr marL="200526" indent="-200526" defTabSz="825500">
              <a:buSzPct val="30000"/>
              <a:buChar char="-"/>
              <a:tabLst/>
              <a:defRPr sz="2000" spc="0">
                <a:solidFill>
                  <a:schemeClr val="accent6"/>
                </a:solidFill>
                <a:latin typeface="+mn-lt"/>
                <a:ea typeface="+mn-ea"/>
                <a:cs typeface="+mn-cs"/>
                <a:sym typeface="Helvetica Neue LT Std 45 Light"/>
              </a:defRPr>
            </a:pPr>
            <a:r>
              <a:t>Can use bullet points</a:t>
            </a:r>
          </a:p>
          <a:p>
            <a:pPr marL="200526" indent="-200526" defTabSz="825500">
              <a:buSzPct val="30000"/>
              <a:buChar char="-"/>
              <a:tabLst/>
              <a:defRPr sz="2000" spc="0">
                <a:solidFill>
                  <a:schemeClr val="accent6"/>
                </a:solidFill>
                <a:latin typeface="+mn-lt"/>
                <a:ea typeface="+mn-ea"/>
                <a:cs typeface="+mn-cs"/>
                <a:sym typeface="Helvetica Neue LT Std 45 Light"/>
              </a:defRPr>
            </a:pPr>
            <a:r>
              <a:t>For multiple solutions</a:t>
            </a:r>
          </a:p>
        </p:txBody>
      </p:sp>
      <p:sp>
        <p:nvSpPr>
          <p:cNvPr id="91" name="Slide Number"/>
          <p:cNvSpPr txBox="1">
            <a:spLocks noGrp="1"/>
          </p:cNvSpPr>
          <p:nvPr>
            <p:ph type="sldNum" sz="quarter" idx="2"/>
          </p:nvPr>
        </p:nvSpPr>
        <p:spPr>
          <a:xfrm>
            <a:off x="11263458" y="560184"/>
            <a:ext cx="293543" cy="295466"/>
          </a:xfrm>
          <a:prstGeom prst="rect">
            <a:avLst/>
          </a:prstGeom>
        </p:spPr>
        <p:txBody>
          <a:bodyPr lIns="54864" tIns="54864" rIns="54864" bIns="54864">
            <a:spAutoFit/>
          </a:bodyPr>
          <a:lstStyle>
            <a:lvl1pPr defTabSz="412750">
              <a:defRPr>
                <a:solidFill>
                  <a:schemeClr val="accent6"/>
                </a:solidFill>
                <a:latin typeface="+mn-lt"/>
                <a:ea typeface="+mn-ea"/>
                <a:cs typeface="+mn-cs"/>
                <a:sym typeface="Helvetica Neue LT Std 45 Light"/>
              </a:defRPr>
            </a:lvl1pPr>
          </a:lstStyle>
          <a:p>
            <a:fld id="{86CB4B4D-7CA3-9044-876B-883B54F8677D}" type="slidenum">
              <a:rPr/>
              <a:t>‹#›</a:t>
            </a:fld>
            <a:endParaRPr/>
          </a:p>
        </p:txBody>
      </p:sp>
    </p:spTree>
    <p:extLst>
      <p:ext uri="{BB962C8B-B14F-4D97-AF65-F5344CB8AC3E}">
        <p14:creationId xmlns:p14="http://schemas.microsoft.com/office/powerpoint/2010/main" val="305309840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ase Optional - big image">
    <p:bg>
      <p:bgPr>
        <a:solidFill>
          <a:schemeClr val="accent6">
            <a:lumOff val="100000"/>
          </a:schemeClr>
        </a:solidFill>
        <a:effectLst/>
      </p:bgPr>
    </p:bg>
    <p:spTree>
      <p:nvGrpSpPr>
        <p:cNvPr id="1" name=""/>
        <p:cNvGrpSpPr/>
        <p:nvPr/>
      </p:nvGrpSpPr>
      <p:grpSpPr>
        <a:xfrm>
          <a:off x="0" y="0"/>
          <a:ext cx="0" cy="0"/>
          <a:chOff x="0" y="0"/>
          <a:chExt cx="0" cy="0"/>
        </a:xfrm>
      </p:grpSpPr>
      <p:sp>
        <p:nvSpPr>
          <p:cNvPr id="123" name="Main Outcome"/>
          <p:cNvSpPr txBox="1">
            <a:spLocks noGrp="1"/>
          </p:cNvSpPr>
          <p:nvPr>
            <p:ph type="body" sz="quarter" idx="21"/>
          </p:nvPr>
        </p:nvSpPr>
        <p:spPr>
          <a:xfrm>
            <a:off x="634513" y="1449933"/>
            <a:ext cx="2430001" cy="318549"/>
          </a:xfrm>
          <a:prstGeom prst="rect">
            <a:avLst/>
          </a:prstGeom>
        </p:spPr>
        <p:txBody>
          <a:bodyPr lIns="0" tIns="0" rIns="0" bIns="0">
            <a:spAutoFit/>
          </a:bodyPr>
          <a:lstStyle>
            <a:lvl1pPr defTabSz="323850">
              <a:lnSpc>
                <a:spcPct val="90000"/>
              </a:lnSpc>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sz="2300" spc="-46">
                <a:solidFill>
                  <a:schemeClr val="accent6"/>
                </a:solidFill>
                <a:latin typeface="HelveticaNeueLT Std Med"/>
                <a:ea typeface="HelveticaNeueLT Std Med"/>
                <a:cs typeface="HelveticaNeueLT Std Med"/>
                <a:sym typeface="Helvetica Neue LT Std 85 Heavy"/>
              </a:defRPr>
            </a:lvl1pPr>
          </a:lstStyle>
          <a:p>
            <a:r>
              <a:t>Main Outcome</a:t>
            </a:r>
          </a:p>
        </p:txBody>
      </p:sp>
      <p:pic>
        <p:nvPicPr>
          <p:cNvPr id="124" name="Smile_Black_RGB.ai" descr="Smile_Black_RGB.ai"/>
          <p:cNvPicPr>
            <a:picLocks noChangeAspect="1"/>
          </p:cNvPicPr>
          <p:nvPr/>
        </p:nvPicPr>
        <p:blipFill>
          <a:blip r:embed="rId2"/>
          <a:stretch>
            <a:fillRect/>
          </a:stretch>
        </p:blipFill>
        <p:spPr>
          <a:xfrm>
            <a:off x="635400" y="5968800"/>
            <a:ext cx="253801" cy="253801"/>
          </a:xfrm>
          <a:prstGeom prst="rect">
            <a:avLst/>
          </a:prstGeom>
          <a:ln w="12700">
            <a:miter lim="400000"/>
          </a:ln>
        </p:spPr>
      </p:pic>
      <p:sp>
        <p:nvSpPr>
          <p:cNvPr id="125" name="Image"/>
          <p:cNvSpPr>
            <a:spLocks noGrp="1"/>
          </p:cNvSpPr>
          <p:nvPr>
            <p:ph type="pic" sz="quarter" idx="22"/>
          </p:nvPr>
        </p:nvSpPr>
        <p:spPr>
          <a:xfrm>
            <a:off x="634513" y="554458"/>
            <a:ext cx="546776" cy="176041"/>
          </a:xfrm>
          <a:prstGeom prst="rect">
            <a:avLst/>
          </a:prstGeom>
        </p:spPr>
        <p:txBody>
          <a:bodyPr lIns="91439" tIns="45719" rIns="91439" bIns="45719">
            <a:noAutofit/>
          </a:bodyPr>
          <a:lstStyle/>
          <a:p>
            <a:endParaRPr/>
          </a:p>
        </p:txBody>
      </p:sp>
      <p:sp>
        <p:nvSpPr>
          <p:cNvPr id="126" name="Image"/>
          <p:cNvSpPr>
            <a:spLocks noGrp="1"/>
          </p:cNvSpPr>
          <p:nvPr>
            <p:ph type="pic" idx="23"/>
          </p:nvPr>
        </p:nvSpPr>
        <p:spPr>
          <a:xfrm>
            <a:off x="2125336" y="0"/>
            <a:ext cx="11743465" cy="6858000"/>
          </a:xfrm>
          <a:prstGeom prst="rect">
            <a:avLst/>
          </a:prstGeom>
        </p:spPr>
        <p:txBody>
          <a:bodyPr lIns="91439" tIns="45719" rIns="91439" bIns="45719">
            <a:noAutofit/>
          </a:bodyPr>
          <a:lstStyle/>
          <a:p>
            <a:endParaRPr/>
          </a:p>
        </p:txBody>
      </p:sp>
      <p:sp>
        <p:nvSpPr>
          <p:cNvPr id="127" name="Main visual (or series of visuals) that were created during the project. Please aim for *designed* output, all custom created as pat of the project. Money shots / Final deliverables / Videos"/>
          <p:cNvSpPr>
            <a:spLocks noGrp="1"/>
          </p:cNvSpPr>
          <p:nvPr>
            <p:ph type="body" sz="quarter" idx="24"/>
          </p:nvPr>
        </p:nvSpPr>
        <p:spPr>
          <a:xfrm>
            <a:off x="634513" y="2616200"/>
            <a:ext cx="2157018" cy="2961809"/>
          </a:xfrm>
          <a:prstGeom prst="rect">
            <a:avLst/>
          </a:prstGeom>
        </p:spPr>
        <p:txBody>
          <a:bodyPr lIns="0" tIns="0" rIns="0" bIns="0">
            <a:noAutofit/>
          </a:bodyPr>
          <a:lstStyle>
            <a:lvl1pPr defTabSz="412750">
              <a:tabLst/>
              <a:defRPr sz="1000" spc="0">
                <a:solidFill>
                  <a:schemeClr val="accent6"/>
                </a:solidFill>
                <a:latin typeface="+mn-lt"/>
                <a:ea typeface="+mn-ea"/>
                <a:cs typeface="+mn-cs"/>
                <a:sym typeface="Helvetica Neue LT Std 45 Light"/>
              </a:defRPr>
            </a:lvl1pPr>
          </a:lstStyle>
          <a:p>
            <a:r>
              <a:t>Main visual (or series of visuals) that were created during the project. Please aim for *designed* output, all custom created as pat of the project. Money shots / Final deliverables / Videos</a:t>
            </a:r>
          </a:p>
        </p:txBody>
      </p:sp>
      <p:sp>
        <p:nvSpPr>
          <p:cNvPr id="128" name="Slide Number"/>
          <p:cNvSpPr txBox="1">
            <a:spLocks noGrp="1"/>
          </p:cNvSpPr>
          <p:nvPr>
            <p:ph type="sldNum" sz="quarter" idx="2"/>
          </p:nvPr>
        </p:nvSpPr>
        <p:spPr>
          <a:xfrm>
            <a:off x="11263458" y="560184"/>
            <a:ext cx="293543" cy="295466"/>
          </a:xfrm>
          <a:prstGeom prst="rect">
            <a:avLst/>
          </a:prstGeom>
        </p:spPr>
        <p:txBody>
          <a:bodyPr lIns="54864" tIns="54864" rIns="54864" bIns="54864">
            <a:spAutoFit/>
          </a:bodyPr>
          <a:lstStyle>
            <a:lvl1pPr defTabSz="412750">
              <a:defRPr>
                <a:solidFill>
                  <a:schemeClr val="accent6"/>
                </a:solidFill>
                <a:latin typeface="+mn-lt"/>
                <a:ea typeface="+mn-ea"/>
                <a:cs typeface="+mn-cs"/>
                <a:sym typeface="Helvetica Neue LT Std 45 Light"/>
              </a:defRPr>
            </a:lvl1pPr>
          </a:lstStyle>
          <a:p>
            <a:fld id="{86CB4B4D-7CA3-9044-876B-883B54F8677D}" type="slidenum">
              <a:rPr/>
              <a:t>‹#›</a:t>
            </a:fld>
            <a:endParaRPr/>
          </a:p>
        </p:txBody>
      </p:sp>
    </p:spTree>
    <p:extLst>
      <p:ext uri="{BB962C8B-B14F-4D97-AF65-F5344CB8AC3E}">
        <p14:creationId xmlns:p14="http://schemas.microsoft.com/office/powerpoint/2010/main" val="2695238026"/>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ACCB4"/>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89818" y="6404292"/>
            <a:ext cx="263983"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t>‹#›</a:t>
            </a:fld>
            <a:endParaRPr/>
          </a:p>
        </p:txBody>
      </p:sp>
      <p:sp>
        <p:nvSpPr>
          <p:cNvPr id="6" name="MSIPCMContentMarking" descr="{&quot;HashCode&quot;:-1327471360,&quot;Placement&quot;:&quot;Footer&quot;,&quot;Top&quot;:519.343,&quot;Left&quot;:0.0,&quot;SlideWidth&quot;:960,&quot;SlideHeight&quot;:540}">
            <a:extLst>
              <a:ext uri="{FF2B5EF4-FFF2-40B4-BE49-F238E27FC236}">
                <a16:creationId xmlns:a16="http://schemas.microsoft.com/office/drawing/2014/main" id="{41BECDA6-5398-4175-88F7-4FFE730327FD}"/>
              </a:ext>
            </a:extLst>
          </p:cNvPr>
          <p:cNvSpPr txBox="1"/>
          <p:nvPr userDrawn="1"/>
        </p:nvSpPr>
        <p:spPr>
          <a:xfrm>
            <a:off x="0" y="6595656"/>
            <a:ext cx="1179911" cy="2623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000" b="0" i="0" u="none" strike="noStrike" cap="none" spc="0" normalizeH="0" baseline="0">
                <a:ln>
                  <a:noFill/>
                </a:ln>
                <a:solidFill>
                  <a:srgbClr val="000000"/>
                </a:solidFill>
                <a:effectLst/>
                <a:uFillTx/>
                <a:latin typeface="Calibri" panose="020F0502020204030204" pitchFamily="34" charset="0"/>
                <a:ea typeface="+mn-ea"/>
                <a:cs typeface="+mn-cs"/>
                <a:sym typeface="Calibri"/>
              </a:rPr>
              <a:t>Internal to Wipro</a:t>
            </a:r>
          </a:p>
        </p:txBody>
      </p:sp>
    </p:spTree>
    <p:extLst>
      <p:ext uri="{BB962C8B-B14F-4D97-AF65-F5344CB8AC3E}">
        <p14:creationId xmlns:p14="http://schemas.microsoft.com/office/powerpoint/2010/main" val="1837151850"/>
      </p:ext>
    </p:extLst>
  </p:cSld>
  <p:clrMap bg1="lt1" tx1="dk1" bg2="lt2" tx2="dk2" accent1="accent1" accent2="accent2" accent3="accent3" accent4="accent4" accent5="accent5" accent6="accent6" hlink="hlink" folHlink="folHlink"/>
  <p:sldLayoutIdLst>
    <p:sldLayoutId id="2147485675" r:id="rId1"/>
    <p:sldLayoutId id="2147485917" r:id="rId2"/>
    <p:sldLayoutId id="2147485918" r:id="rId3"/>
    <p:sldLayoutId id="2147485922" r:id="rId4"/>
    <p:sldLayoutId id="2147485924" r:id="rId5"/>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18"/>
          <p:cNvSpPr/>
          <p:nvPr/>
        </p:nvSpPr>
        <p:spPr>
          <a:xfrm>
            <a:off x="-3767" y="-4200"/>
            <a:ext cx="2974400" cy="6866400"/>
          </a:xfrm>
          <a:prstGeom prst="rect">
            <a:avLst/>
          </a:prstGeom>
          <a:solidFill>
            <a:srgbClr val="F4F4F4"/>
          </a:solidFill>
          <a:ln>
            <a:noFill/>
          </a:ln>
        </p:spPr>
        <p:txBody>
          <a:bodyPr spcFirstLastPara="1" wrap="square" lIns="121900" tIns="121900" rIns="121900" bIns="121900" anchor="ctr" anchorCtr="0">
            <a:noAutofit/>
          </a:bodyPr>
          <a:lstStyle/>
          <a:p>
            <a:pPr marL="0" marR="0" lvl="0" indent="0" algn="l" defTabSz="1219215" rtl="0" eaLnBrk="1" fontAlgn="auto" latinLnBrk="0" hangingPunct="1">
              <a:lnSpc>
                <a:spcPct val="100000"/>
              </a:lnSpc>
              <a:spcBef>
                <a:spcPts val="0"/>
              </a:spcBef>
              <a:spcAft>
                <a:spcPts val="0"/>
              </a:spcAft>
              <a:buClr>
                <a:srgbClr val="000000"/>
              </a:buClr>
              <a:buSzTx/>
              <a:buFontTx/>
              <a:buNone/>
              <a:tabLst/>
              <a:defRPr/>
            </a:pPr>
            <a:endParaRPr kumimoji="0" lang="en-GB" sz="1867" b="0" i="0" u="none" strike="noStrike" kern="1200" cap="none" spc="0" normalizeH="0" baseline="0" noProof="0" dirty="0">
              <a:ln>
                <a:noFill/>
              </a:ln>
              <a:solidFill>
                <a:srgbClr val="000000"/>
              </a:solidFill>
              <a:effectLst/>
              <a:uLnTx/>
              <a:uFillTx/>
              <a:latin typeface="Avenir Next" panose="020B0503020202020204" pitchFamily="34" charset="0"/>
              <a:cs typeface="Arial"/>
              <a:sym typeface="Arial"/>
            </a:endParaRPr>
          </a:p>
        </p:txBody>
      </p:sp>
      <p:sp>
        <p:nvSpPr>
          <p:cNvPr id="138" name="Google Shape;138;p18"/>
          <p:cNvSpPr txBox="1"/>
          <p:nvPr/>
        </p:nvSpPr>
        <p:spPr>
          <a:xfrm>
            <a:off x="3305589" y="349610"/>
            <a:ext cx="4007788" cy="671007"/>
          </a:xfrm>
          <a:prstGeom prst="rect">
            <a:avLst/>
          </a:prstGeom>
          <a:ln w="12700">
            <a:miter lim="400000"/>
          </a:ln>
        </p:spPr>
        <p:txBody>
          <a:bodyPr vert="horz" lIns="0" tIns="0" rIns="0" bIns="0" rtlCol="0" anchor="t">
            <a:noAutofit/>
          </a:bodyPr>
          <a:lstStyle>
            <a:lvl1pPr algn="l" defTabSz="647700">
              <a:tabLst>
                <a:tab pos="508000" algn="l"/>
                <a:tab pos="1016000" algn="l"/>
                <a:tab pos="1524000" algn="l"/>
                <a:tab pos="2019300" algn="l"/>
                <a:tab pos="2527300" algn="l"/>
                <a:tab pos="3035300" algn="l"/>
                <a:tab pos="3543300" algn="l"/>
                <a:tab pos="4051300" algn="l"/>
                <a:tab pos="4559300" algn="l"/>
                <a:tab pos="5067300" algn="l"/>
                <a:tab pos="5562600" algn="l"/>
                <a:tab pos="6070600" algn="l"/>
              </a:tabLst>
              <a:defRPr sz="4800" b="1">
                <a:solidFill>
                  <a:srgbClr val="000000"/>
                </a:solidFill>
                <a:latin typeface="Helvetica" pitchFamily="2" charset="0"/>
                <a:ea typeface="+mj-ea"/>
                <a:cs typeface="+mj-cs"/>
                <a:sym typeface="Helvetica Neue LT Std 85 Heavy"/>
              </a:defRPr>
            </a:lvl1pPr>
            <a:lvl2pPr marL="1447800" indent="-533400" algn="l" defTabSz="1828800">
              <a:lnSpc>
                <a:spcPct val="90000"/>
              </a:lnSpc>
              <a:spcBef>
                <a:spcPts val="2000"/>
              </a:spcBef>
              <a:buSzPct val="100000"/>
              <a:buFont typeface="Arial"/>
              <a:buChar char="•"/>
              <a:defRPr sz="5600">
                <a:solidFill>
                  <a:srgbClr val="000000"/>
                </a:solidFill>
                <a:sym typeface="Calibri"/>
              </a:defRPr>
            </a:lvl2pPr>
            <a:lvl3pPr marL="2468878" indent="-640078" algn="l" defTabSz="1828800">
              <a:lnSpc>
                <a:spcPct val="90000"/>
              </a:lnSpc>
              <a:spcBef>
                <a:spcPts val="2000"/>
              </a:spcBef>
              <a:buSzPct val="100000"/>
              <a:buFont typeface="Arial"/>
              <a:buChar char="•"/>
              <a:defRPr sz="5600">
                <a:solidFill>
                  <a:srgbClr val="000000"/>
                </a:solidFill>
                <a:sym typeface="Calibri"/>
              </a:defRPr>
            </a:lvl3pPr>
            <a:lvl4pPr marL="3454400" indent="-711200" algn="l" defTabSz="1828800">
              <a:lnSpc>
                <a:spcPct val="90000"/>
              </a:lnSpc>
              <a:spcBef>
                <a:spcPts val="2000"/>
              </a:spcBef>
              <a:buSzPct val="100000"/>
              <a:buFont typeface="Arial"/>
              <a:buChar char="•"/>
              <a:defRPr sz="5600">
                <a:solidFill>
                  <a:srgbClr val="000000"/>
                </a:solidFill>
                <a:sym typeface="Calibri"/>
              </a:defRPr>
            </a:lvl4pPr>
            <a:lvl5pPr marL="4368800" indent="-711200" algn="l" defTabSz="1828800">
              <a:lnSpc>
                <a:spcPct val="90000"/>
              </a:lnSpc>
              <a:spcBef>
                <a:spcPts val="2000"/>
              </a:spcBef>
              <a:buSzPct val="100000"/>
              <a:buFont typeface="Arial"/>
              <a:buChar char="•"/>
              <a:defRPr sz="5600">
                <a:solidFill>
                  <a:srgbClr val="000000"/>
                </a:solidFill>
                <a:sym typeface="Calibri"/>
              </a:defRPr>
            </a:lvl5pPr>
            <a:lvl6pPr marL="5283200" indent="-711200" algn="l" defTabSz="1828800">
              <a:lnSpc>
                <a:spcPct val="90000"/>
              </a:lnSpc>
              <a:spcBef>
                <a:spcPts val="2000"/>
              </a:spcBef>
              <a:buSzPct val="100000"/>
              <a:buFont typeface="Arial"/>
              <a:buChar char="•"/>
              <a:defRPr sz="5600">
                <a:solidFill>
                  <a:srgbClr val="000000"/>
                </a:solidFill>
                <a:sym typeface="Calibri"/>
              </a:defRPr>
            </a:lvl6pPr>
            <a:lvl7pPr marL="6197600" indent="-711200" algn="l" defTabSz="1828800">
              <a:lnSpc>
                <a:spcPct val="90000"/>
              </a:lnSpc>
              <a:spcBef>
                <a:spcPts val="2000"/>
              </a:spcBef>
              <a:buSzPct val="100000"/>
              <a:buFont typeface="Arial"/>
              <a:buChar char="•"/>
              <a:defRPr sz="5600">
                <a:solidFill>
                  <a:srgbClr val="000000"/>
                </a:solidFill>
                <a:sym typeface="Calibri"/>
              </a:defRPr>
            </a:lvl7pPr>
            <a:lvl8pPr marL="7112000" indent="-711200" algn="l" defTabSz="1828800">
              <a:lnSpc>
                <a:spcPct val="90000"/>
              </a:lnSpc>
              <a:spcBef>
                <a:spcPts val="2000"/>
              </a:spcBef>
              <a:buSzPct val="100000"/>
              <a:buFont typeface="Arial"/>
              <a:buChar char="•"/>
              <a:defRPr sz="5600">
                <a:solidFill>
                  <a:srgbClr val="000000"/>
                </a:solidFill>
                <a:sym typeface="Calibri"/>
              </a:defRPr>
            </a:lvl8pPr>
            <a:lvl9pPr marL="8026400" indent="-711200" algn="l" defTabSz="1828800">
              <a:lnSpc>
                <a:spcPct val="90000"/>
              </a:lnSpc>
              <a:spcBef>
                <a:spcPts val="2000"/>
              </a:spcBef>
              <a:buSzPct val="100000"/>
              <a:buFont typeface="Arial"/>
              <a:buChar char="•"/>
              <a:defRPr sz="5600">
                <a:solidFill>
                  <a:srgbClr val="000000"/>
                </a:solidFill>
                <a:sym typeface="Calibri"/>
              </a:defRPr>
            </a:lvl9pPr>
          </a:lstStyle>
          <a:p>
            <a:pPr marL="0" marR="0" lvl="0" indent="0" algn="l" defTabSz="323850" rtl="0" eaLnBrk="1" fontAlgn="auto" latinLnBrk="0" hangingPunct="0">
              <a:lnSpc>
                <a:spcPct val="100000"/>
              </a:lnSpc>
              <a:spcBef>
                <a:spcPts val="0"/>
              </a:spcBef>
              <a:spcAft>
                <a:spcPts val="0"/>
              </a:spcAft>
              <a:buClrTx/>
              <a:buSzTx/>
              <a:buFontTx/>
              <a:buNone/>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a:pPr>
            <a:r>
              <a:rPr kumimoji="0" lang="en-GB" sz="2400" b="1" i="0" u="none" strike="noStrike" kern="0" cap="none" spc="0" normalizeH="0" baseline="0" noProof="0" dirty="0">
                <a:ln>
                  <a:noFill/>
                </a:ln>
                <a:solidFill>
                  <a:srgbClr val="000000"/>
                </a:solidFill>
                <a:effectLst/>
                <a:uLnTx/>
                <a:uFillTx/>
                <a:latin typeface="Avenir Next" panose="020B0503020202020204" pitchFamily="34" charset="0"/>
                <a:cs typeface="Helvetica"/>
                <a:sym typeface="Barlow Condensed"/>
              </a:rPr>
              <a:t>HARIHARAN ESWARAN</a:t>
            </a:r>
          </a:p>
        </p:txBody>
      </p:sp>
      <p:sp>
        <p:nvSpPr>
          <p:cNvPr id="139" name="Google Shape;139;p18"/>
          <p:cNvSpPr/>
          <p:nvPr/>
        </p:nvSpPr>
        <p:spPr>
          <a:xfrm>
            <a:off x="512134" y="3704762"/>
            <a:ext cx="1830800" cy="510400"/>
          </a:xfrm>
          <a:prstGeom prst="roundRect">
            <a:avLst>
              <a:gd name="adj" fmla="val 50000"/>
            </a:avLst>
          </a:prstGeom>
          <a:solidFill>
            <a:schemeClr val="bg2"/>
          </a:solidFill>
          <a:ln>
            <a:noFill/>
          </a:ln>
        </p:spPr>
        <p:txBody>
          <a:bodyPr spcFirstLastPara="1" wrap="square" lIns="24367" tIns="121900" rIns="24367" bIns="121900" anchor="ctr" anchorCtr="0">
            <a:noAutofit/>
          </a:bodyPr>
          <a:lstStyle/>
          <a:p>
            <a:pPr lvl="0" algn="ctr" defTabSz="1219215" hangingPunct="1">
              <a:buClr>
                <a:srgbClr val="000000"/>
              </a:buClr>
              <a:defRPr/>
            </a:pPr>
            <a:r>
              <a:rPr lang="en-GB" sz="1200" kern="1200" dirty="0">
                <a:solidFill>
                  <a:srgbClr val="FFFFFF"/>
                </a:solidFill>
                <a:latin typeface="Avenir Next" panose="020B0503020202020204" pitchFamily="34" charset="0"/>
                <a:ea typeface="Barlow Condensed Medium"/>
                <a:cs typeface="Barlow Condensed Medium"/>
                <a:sym typeface="Barlow Condensed Medium"/>
              </a:rPr>
              <a:t>Expertise in Banking Design</a:t>
            </a:r>
          </a:p>
        </p:txBody>
      </p:sp>
      <p:sp>
        <p:nvSpPr>
          <p:cNvPr id="146" name="Google Shape;146;p18"/>
          <p:cNvSpPr txBox="1"/>
          <p:nvPr/>
        </p:nvSpPr>
        <p:spPr>
          <a:xfrm>
            <a:off x="3169445" y="3418423"/>
            <a:ext cx="3746234" cy="388400"/>
          </a:xfrm>
          <a:prstGeom prst="rect">
            <a:avLst/>
          </a:prstGeom>
          <a:noFill/>
          <a:ln>
            <a:noFill/>
          </a:ln>
        </p:spPr>
        <p:txBody>
          <a:bodyPr spcFirstLastPara="1" wrap="square" lIns="121900" tIns="121900" rIns="121900" bIns="121900" anchor="t" anchorCtr="0">
            <a:noAutofit/>
          </a:bodyPr>
          <a:lstStyle/>
          <a:p>
            <a:pPr marL="0" marR="0" lvl="0" indent="0" algn="l" defTabSz="1219215" rtl="0" eaLnBrk="1" fontAlgn="auto" latinLnBrk="0" hangingPunct="1">
              <a:lnSpc>
                <a:spcPct val="100000"/>
              </a:lnSpc>
              <a:spcBef>
                <a:spcPts val="0"/>
              </a:spcBef>
              <a:spcAft>
                <a:spcPts val="0"/>
              </a:spcAft>
              <a:buClr>
                <a:srgbClr val="000000"/>
              </a:buClr>
              <a:buSzTx/>
              <a:buFontTx/>
              <a:buNone/>
              <a:tabLst/>
              <a:defRPr/>
            </a:pPr>
            <a:r>
              <a:rPr kumimoji="0" lang="en-GB" sz="1600" b="1" i="0" u="none" strike="noStrike" kern="1200" cap="none" spc="0" normalizeH="0" baseline="0" noProof="0" dirty="0">
                <a:ln>
                  <a:noFill/>
                </a:ln>
                <a:solidFill>
                  <a:srgbClr val="000000"/>
                </a:solidFill>
                <a:effectLst/>
                <a:uLnTx/>
                <a:uFillTx/>
                <a:latin typeface="Avenir Next" panose="020B0503020202020204" pitchFamily="34" charset="0"/>
                <a:ea typeface="Barlow Condensed"/>
                <a:cs typeface="Barlow Condensed"/>
                <a:sym typeface="Barlow Condensed"/>
              </a:rPr>
              <a:t>Experience &amp; Accomplishments</a:t>
            </a:r>
          </a:p>
        </p:txBody>
      </p:sp>
      <p:sp>
        <p:nvSpPr>
          <p:cNvPr id="150" name="Google Shape;150;p18"/>
          <p:cNvSpPr txBox="1"/>
          <p:nvPr/>
        </p:nvSpPr>
        <p:spPr>
          <a:xfrm>
            <a:off x="8325364" y="-26351"/>
            <a:ext cx="877600" cy="1277200"/>
          </a:xfrm>
          <a:prstGeom prst="rect">
            <a:avLst/>
          </a:prstGeom>
          <a:noFill/>
          <a:ln>
            <a:noFill/>
          </a:ln>
        </p:spPr>
        <p:txBody>
          <a:bodyPr spcFirstLastPara="1" wrap="square" lIns="121900" tIns="121900" rIns="121900" bIns="121900" anchor="t" anchorCtr="0">
            <a:noAutofit/>
          </a:bodyPr>
          <a:lstStyle/>
          <a:p>
            <a:pPr marL="0" marR="0" lvl="0" indent="0" algn="l" defTabSz="1219215" rtl="0" eaLnBrk="1" fontAlgn="auto" latinLnBrk="0" hangingPunct="1">
              <a:lnSpc>
                <a:spcPct val="100000"/>
              </a:lnSpc>
              <a:spcBef>
                <a:spcPts val="0"/>
              </a:spcBef>
              <a:spcAft>
                <a:spcPts val="0"/>
              </a:spcAft>
              <a:buClr>
                <a:srgbClr val="000000"/>
              </a:buClr>
              <a:buSzTx/>
              <a:buFontTx/>
              <a:buNone/>
              <a:tabLst/>
              <a:defRPr/>
            </a:pPr>
            <a:r>
              <a:rPr kumimoji="0" lang="en-GB" sz="12800" b="0" i="0" u="none" strike="noStrike" kern="1200" cap="none" spc="0" normalizeH="0" baseline="0" noProof="0" dirty="0">
                <a:ln>
                  <a:noFill/>
                </a:ln>
                <a:solidFill>
                  <a:srgbClr val="FF9300"/>
                </a:solidFill>
                <a:effectLst/>
                <a:uLnTx/>
                <a:uFillTx/>
                <a:latin typeface="Avenir Next" panose="020B0503020202020204" pitchFamily="34" charset="0"/>
                <a:ea typeface="Roboto Medium"/>
                <a:cs typeface="Roboto Medium"/>
                <a:sym typeface="Roboto Medium"/>
              </a:rPr>
              <a:t>“</a:t>
            </a:r>
          </a:p>
        </p:txBody>
      </p:sp>
      <p:sp>
        <p:nvSpPr>
          <p:cNvPr id="151" name="Google Shape;151;p18"/>
          <p:cNvSpPr txBox="1"/>
          <p:nvPr/>
        </p:nvSpPr>
        <p:spPr>
          <a:xfrm>
            <a:off x="9130084" y="387189"/>
            <a:ext cx="2493378" cy="2915395"/>
          </a:xfrm>
          <a:prstGeom prst="rect">
            <a:avLst/>
          </a:prstGeom>
          <a:noFill/>
          <a:ln>
            <a:noFill/>
          </a:ln>
        </p:spPr>
        <p:txBody>
          <a:bodyPr spcFirstLastPara="1" wrap="square" lIns="121900" tIns="121900" rIns="121900" bIns="121900" anchor="t" anchorCtr="0">
            <a:noAutofit/>
          </a:bodyPr>
          <a:lstStyle/>
          <a:p>
            <a:pPr marL="15394" marR="0" lvl="0" indent="0" algn="l" defTabSz="1828800" rtl="0" eaLnBrk="1" fontAlgn="base" latinLnBrk="0" hangingPunct="1">
              <a:lnSpc>
                <a:spcPct val="100000"/>
              </a:lnSpc>
              <a:spcBef>
                <a:spcPts val="0"/>
              </a:spcBef>
              <a:spcAft>
                <a:spcPct val="0"/>
              </a:spcAft>
              <a:buClr>
                <a:srgbClr val="00B0F0"/>
              </a:buClr>
              <a:buSzTx/>
              <a:buFontTx/>
              <a:buNone/>
              <a:tabLst/>
              <a:defRPr/>
            </a:pPr>
            <a:r>
              <a:rPr lang="en-GB" sz="900" dirty="0">
                <a:latin typeface="Arial" panose="020B0604020202020204" pitchFamily="34" charset="0"/>
                <a:ea typeface="Times New Roman" panose="02020603050405020304" pitchFamily="18" charset="0"/>
              </a:rPr>
              <a:t>Principal</a:t>
            </a:r>
            <a:r>
              <a:rPr lang="en-GB" sz="900" dirty="0">
                <a:effectLst/>
                <a:latin typeface="Arial" panose="020B0604020202020204" pitchFamily="34" charset="0"/>
                <a:ea typeface="Times New Roman" panose="02020603050405020304" pitchFamily="18" charset="0"/>
              </a:rPr>
              <a:t> </a:t>
            </a:r>
            <a:r>
              <a:rPr lang="en-GB" sz="900">
                <a:effectLst/>
                <a:latin typeface="Arial" panose="020B0604020202020204" pitchFamily="34" charset="0"/>
                <a:ea typeface="Times New Roman" panose="02020603050405020304" pitchFamily="18" charset="0"/>
              </a:rPr>
              <a:t>with </a:t>
            </a:r>
            <a:r>
              <a:rPr lang="en-GB" sz="900">
                <a:latin typeface="Arial" panose="020B0604020202020204" pitchFamily="34" charset="0"/>
                <a:ea typeface="Times New Roman" panose="02020603050405020304" pitchFamily="18" charset="0"/>
              </a:rPr>
              <a:t>20</a:t>
            </a:r>
            <a:r>
              <a:rPr lang="en-GB" sz="900">
                <a:effectLst/>
                <a:latin typeface="Arial" panose="020B0604020202020204" pitchFamily="34" charset="0"/>
                <a:ea typeface="Times New Roman" panose="02020603050405020304" pitchFamily="18" charset="0"/>
              </a:rPr>
              <a:t> </a:t>
            </a:r>
            <a:r>
              <a:rPr lang="en-GB" sz="900" dirty="0">
                <a:effectLst/>
                <a:latin typeface="Arial" panose="020B0604020202020204" pitchFamily="34" charset="0"/>
                <a:ea typeface="Times New Roman" panose="02020603050405020304" pitchFamily="18" charset="0"/>
              </a:rPr>
              <a:t>years of experience across Insurance, </a:t>
            </a:r>
            <a:r>
              <a:rPr lang="en-GB" sz="900" b="1" dirty="0">
                <a:effectLst/>
                <a:latin typeface="Arial" panose="020B0604020202020204" pitchFamily="34" charset="0"/>
                <a:ea typeface="Times New Roman" panose="02020603050405020304" pitchFamily="18" charset="0"/>
              </a:rPr>
              <a:t>Banking, and deep expertise in the Cards domain.</a:t>
            </a:r>
            <a:r>
              <a:rPr lang="en-GB" sz="900" dirty="0">
                <a:effectLst/>
                <a:latin typeface="Arial" panose="020B0604020202020204" pitchFamily="34" charset="0"/>
                <a:ea typeface="Times New Roman" panose="02020603050405020304" pitchFamily="18" charset="0"/>
              </a:rPr>
              <a:t> Specialized in card issuance, transaction processing, fraud management, and </a:t>
            </a:r>
            <a:r>
              <a:rPr lang="en-GB" sz="900" b="1" dirty="0">
                <a:effectLst/>
                <a:latin typeface="Arial" panose="020B0604020202020204" pitchFamily="34" charset="0"/>
                <a:ea typeface="Times New Roman" panose="02020603050405020304" pitchFamily="18" charset="0"/>
              </a:rPr>
              <a:t>integration with Visa/MasterCard/Rupay. Proven track record in building PCI-DSS</a:t>
            </a:r>
            <a:r>
              <a:rPr lang="en-GB" sz="900" dirty="0">
                <a:effectLst/>
                <a:latin typeface="Arial" panose="020B0604020202020204" pitchFamily="34" charset="0"/>
                <a:ea typeface="Times New Roman" panose="02020603050405020304" pitchFamily="18" charset="0"/>
              </a:rPr>
              <a:t> compliant systems, 3DS authentication, and real-time payment gateways. Skilled in SDLC, microservices, cloud (AWS/Azure), and DevOps. Strong leadership, analytical, and delivery capabilities</a:t>
            </a:r>
            <a:r>
              <a:rPr kumimoji="0" lang="en-US" sz="1000" b="0"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rPr>
              <a:t>.</a:t>
            </a:r>
          </a:p>
          <a:p>
            <a:pPr marL="15394" marR="0" lvl="0" indent="0" algn="l" defTabSz="1828800" rtl="0" eaLnBrk="1" fontAlgn="base" latinLnBrk="0" hangingPunct="1">
              <a:lnSpc>
                <a:spcPct val="100000"/>
              </a:lnSpc>
              <a:spcBef>
                <a:spcPts val="0"/>
              </a:spcBef>
              <a:spcAft>
                <a:spcPct val="0"/>
              </a:spcAft>
              <a:buClr>
                <a:srgbClr val="00B0F0"/>
              </a:buClr>
              <a:buSzTx/>
              <a:buFontTx/>
              <a:buNone/>
              <a:tabLst/>
              <a:defRPr/>
            </a:pPr>
            <a:r>
              <a:rPr lang="en-US" sz="900" b="1" kern="1200" spc="6" dirty="0">
                <a:solidFill>
                  <a:srgbClr val="E7E6E6">
                    <a:lumMod val="50000"/>
                  </a:srgbClr>
                </a:solidFill>
                <a:latin typeface="Arial" panose="020B0604020202020204" pitchFamily="34" charset="0"/>
                <a:cs typeface="Arial" panose="020B0604020202020204" pitchFamily="34" charset="0"/>
                <a:sym typeface="Helvetica Light"/>
              </a:rPr>
              <a:t>Certifications:</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kumimoji="0" lang="en-US" sz="900" b="1"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rPr>
              <a:t>Togaf 9.1</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lang="en-US" sz="900" b="1" kern="1200" spc="6" dirty="0">
                <a:solidFill>
                  <a:srgbClr val="E7E6E6">
                    <a:lumMod val="50000"/>
                  </a:srgbClr>
                </a:solidFill>
                <a:latin typeface="Arial" panose="020B0604020202020204" pitchFamily="34" charset="0"/>
                <a:cs typeface="Arial" panose="020B0604020202020204" pitchFamily="34" charset="0"/>
                <a:sym typeface="Helvetica Light"/>
              </a:rPr>
              <a:t>Azure Certified Solution Architect</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lang="en-US" sz="900" b="1" kern="1200" spc="6" dirty="0">
                <a:solidFill>
                  <a:srgbClr val="E7E6E6">
                    <a:lumMod val="50000"/>
                  </a:srgbClr>
                </a:solidFill>
                <a:latin typeface="Arial" panose="020B0604020202020204" pitchFamily="34" charset="0"/>
                <a:cs typeface="Arial" panose="020B0604020202020204" pitchFamily="34" charset="0"/>
                <a:sym typeface="Helvetica Light"/>
              </a:rPr>
              <a:t>AWS Certified Solution Architect</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kumimoji="0" lang="en-US" sz="900" b="1"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rPr>
              <a:t>OCEA </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lang="en-US" sz="900" b="1" kern="1200" spc="6" dirty="0">
                <a:solidFill>
                  <a:srgbClr val="E7E6E6">
                    <a:lumMod val="50000"/>
                  </a:srgbClr>
                </a:solidFill>
                <a:latin typeface="Arial" panose="020B0604020202020204" pitchFamily="34" charset="0"/>
                <a:cs typeface="Arial" panose="020B0604020202020204" pitchFamily="34" charset="0"/>
                <a:sym typeface="Helvetica Light"/>
              </a:rPr>
              <a:t>CKAD-Kubernetes Certified Application Developer.</a:t>
            </a:r>
          </a:p>
          <a:p>
            <a:pPr marL="186844" marR="0" lvl="0" indent="-171450" algn="l" defTabSz="1828800" rtl="0" eaLnBrk="1" fontAlgn="base" latinLnBrk="0" hangingPunct="1">
              <a:lnSpc>
                <a:spcPct val="100000"/>
              </a:lnSpc>
              <a:spcBef>
                <a:spcPts val="0"/>
              </a:spcBef>
              <a:spcAft>
                <a:spcPct val="0"/>
              </a:spcAft>
              <a:buClr>
                <a:schemeClr val="tx1"/>
              </a:buClr>
              <a:buSzTx/>
              <a:buFont typeface="Wingdings" panose="05000000000000000000" pitchFamily="2" charset="2"/>
              <a:buChar char="Ø"/>
              <a:tabLst/>
              <a:defRPr/>
            </a:pPr>
            <a:r>
              <a:rPr kumimoji="0" lang="en-US" sz="900" b="1"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rPr>
              <a:t>OCEA –Orac</a:t>
            </a:r>
            <a:r>
              <a:rPr lang="en-US" sz="900" b="1" kern="1200" spc="6" dirty="0">
                <a:solidFill>
                  <a:srgbClr val="E7E6E6">
                    <a:lumMod val="50000"/>
                  </a:srgbClr>
                </a:solidFill>
                <a:latin typeface="Arial" panose="020B0604020202020204" pitchFamily="34" charset="0"/>
                <a:cs typeface="Arial" panose="020B0604020202020204" pitchFamily="34" charset="0"/>
                <a:sym typeface="Helvetica Light"/>
              </a:rPr>
              <a:t>le Certified Enterprise Architect</a:t>
            </a:r>
            <a:endParaRPr kumimoji="0" lang="en-US" sz="900" b="1"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endParaRPr>
          </a:p>
          <a:p>
            <a:pPr marL="15394" marR="0" lvl="0" indent="0" algn="l" defTabSz="1828800" rtl="0" eaLnBrk="1" fontAlgn="base" latinLnBrk="0" hangingPunct="1">
              <a:lnSpc>
                <a:spcPct val="100000"/>
              </a:lnSpc>
              <a:spcBef>
                <a:spcPts val="0"/>
              </a:spcBef>
              <a:spcAft>
                <a:spcPct val="0"/>
              </a:spcAft>
              <a:buClr>
                <a:srgbClr val="00B0F0"/>
              </a:buClr>
              <a:buSzTx/>
              <a:buFontTx/>
              <a:buNone/>
              <a:tabLst/>
              <a:defRPr/>
            </a:pPr>
            <a:endParaRPr kumimoji="0" lang="en-GB" sz="1000" b="0" i="0" u="none" strike="noStrike" kern="1200" cap="none" spc="6" normalizeH="0" baseline="0" noProof="0" dirty="0">
              <a:ln>
                <a:noFill/>
              </a:ln>
              <a:solidFill>
                <a:srgbClr val="E7E6E6">
                  <a:lumMod val="50000"/>
                </a:srgbClr>
              </a:solidFill>
              <a:effectLst/>
              <a:uLnTx/>
              <a:uFillTx/>
              <a:latin typeface="Arial" panose="020B0604020202020204" pitchFamily="34" charset="0"/>
              <a:cs typeface="Arial" panose="020B0604020202020204" pitchFamily="34" charset="0"/>
              <a:sym typeface="Helvetica Light"/>
            </a:endParaRPr>
          </a:p>
        </p:txBody>
      </p:sp>
      <p:sp>
        <p:nvSpPr>
          <p:cNvPr id="152" name="Google Shape;152;p18"/>
          <p:cNvSpPr/>
          <p:nvPr/>
        </p:nvSpPr>
        <p:spPr>
          <a:xfrm flipH="1">
            <a:off x="8877221" y="763862"/>
            <a:ext cx="61075" cy="2833086"/>
          </a:xfrm>
          <a:prstGeom prst="rect">
            <a:avLst/>
          </a:prstGeom>
          <a:solidFill>
            <a:srgbClr val="FF9300"/>
          </a:solidFill>
          <a:ln>
            <a:noFill/>
          </a:ln>
        </p:spPr>
        <p:txBody>
          <a:bodyPr spcFirstLastPara="1" wrap="square" lIns="121900" tIns="121900" rIns="121900" bIns="121900" anchor="ctr" anchorCtr="0">
            <a:noAutofit/>
          </a:bodyPr>
          <a:lstStyle/>
          <a:p>
            <a:pPr marL="0" marR="0" lvl="0" indent="0" algn="l" defTabSz="1219215" rtl="0" eaLnBrk="1" fontAlgn="auto" latinLnBrk="0" hangingPunct="1">
              <a:lnSpc>
                <a:spcPct val="100000"/>
              </a:lnSpc>
              <a:spcBef>
                <a:spcPts val="0"/>
              </a:spcBef>
              <a:spcAft>
                <a:spcPts val="0"/>
              </a:spcAft>
              <a:buClr>
                <a:srgbClr val="000000"/>
              </a:buClr>
              <a:buSzTx/>
              <a:buFontTx/>
              <a:buNone/>
              <a:tabLst/>
              <a:defRPr/>
            </a:pPr>
            <a:endParaRPr kumimoji="0" lang="en-GB" sz="1867" b="0" i="0" u="none" strike="noStrike" kern="1200" cap="none" spc="0" normalizeH="0" baseline="0" noProof="0" dirty="0">
              <a:ln>
                <a:noFill/>
              </a:ln>
              <a:solidFill>
                <a:srgbClr val="000000"/>
              </a:solidFill>
              <a:effectLst/>
              <a:uLnTx/>
              <a:uFillTx/>
              <a:latin typeface="Avenir Next" panose="020B0503020202020204" pitchFamily="34" charset="0"/>
              <a:cs typeface="Arial"/>
              <a:sym typeface="Arial"/>
            </a:endParaRPr>
          </a:p>
        </p:txBody>
      </p:sp>
      <p:sp>
        <p:nvSpPr>
          <p:cNvPr id="156" name="Google Shape;156;p18"/>
          <p:cNvSpPr txBox="1"/>
          <p:nvPr/>
        </p:nvSpPr>
        <p:spPr>
          <a:xfrm>
            <a:off x="549335" y="2380136"/>
            <a:ext cx="1812199" cy="277080"/>
          </a:xfrm>
          <a:prstGeom prst="rect">
            <a:avLst/>
          </a:prstGeom>
          <a:noFill/>
          <a:ln>
            <a:noFill/>
          </a:ln>
        </p:spPr>
        <p:txBody>
          <a:bodyPr spcFirstLastPara="1" wrap="square" lIns="0" tIns="0" rIns="0" bIns="0" anchor="t" anchorCtr="0">
            <a:noAutofit/>
          </a:bodyPr>
          <a:lstStyle/>
          <a:p>
            <a:pPr marL="0" marR="0" lvl="0" indent="0" algn="ctr" defTabSz="1219215" rtl="0" eaLnBrk="1" fontAlgn="auto" latinLnBrk="0" hangingPunct="1">
              <a:lnSpc>
                <a:spcPct val="50000"/>
              </a:lnSpc>
              <a:spcBef>
                <a:spcPts val="0"/>
              </a:spcBef>
              <a:spcAft>
                <a:spcPts val="0"/>
              </a:spcAft>
              <a:buClr>
                <a:srgbClr val="000000"/>
              </a:buClr>
              <a:buSzTx/>
              <a:buFontTx/>
              <a:buNone/>
              <a:tabLst/>
              <a:defRPr/>
            </a:pPr>
            <a:r>
              <a:rPr kumimoji="0" lang="en-GB" sz="1100" b="1" i="0" u="none" strike="noStrike" kern="1200" cap="none" spc="0" normalizeH="0" baseline="0" noProof="0" dirty="0">
                <a:ln>
                  <a:noFill/>
                </a:ln>
                <a:solidFill>
                  <a:srgbClr val="000000"/>
                </a:solidFill>
                <a:effectLst/>
                <a:uLnTx/>
                <a:uFillTx/>
                <a:latin typeface="Avenir Next" panose="020B0503020202020204" pitchFamily="34" charset="0"/>
                <a:ea typeface="Barlow"/>
                <a:cs typeface="Barlow"/>
                <a:sym typeface="Barlow"/>
              </a:rPr>
              <a:t>19+ years of IT Experience</a:t>
            </a:r>
          </a:p>
          <a:p>
            <a:pPr marL="0" marR="0" lvl="0" indent="0" algn="ctr" defTabSz="1219215" rtl="0" eaLnBrk="1" fontAlgn="auto" latinLnBrk="0" hangingPunct="1">
              <a:lnSpc>
                <a:spcPct val="50000"/>
              </a:lnSpc>
              <a:spcBef>
                <a:spcPts val="0"/>
              </a:spcBef>
              <a:spcAft>
                <a:spcPts val="0"/>
              </a:spcAft>
              <a:buClr>
                <a:srgbClr val="000000"/>
              </a:buClr>
              <a:buSzTx/>
              <a:buFontTx/>
              <a:buNone/>
              <a:tabLst/>
              <a:defRPr/>
            </a:pPr>
            <a:endParaRPr kumimoji="0" lang="en-GB" sz="1000" b="1" i="0" u="none" strike="noStrike" kern="1200" cap="none" spc="0" normalizeH="0" baseline="0" noProof="0" dirty="0">
              <a:ln>
                <a:noFill/>
              </a:ln>
              <a:solidFill>
                <a:srgbClr val="707070"/>
              </a:solidFill>
              <a:effectLst/>
              <a:uLnTx/>
              <a:uFillTx/>
              <a:latin typeface="Avenir Next" panose="020B0503020202020204" pitchFamily="34" charset="0"/>
              <a:ea typeface="Barlow"/>
              <a:cs typeface="Barlow"/>
              <a:sym typeface="Barlow"/>
            </a:endParaRPr>
          </a:p>
        </p:txBody>
      </p:sp>
      <p:sp>
        <p:nvSpPr>
          <p:cNvPr id="158" name="Google Shape;158;p18"/>
          <p:cNvSpPr txBox="1"/>
          <p:nvPr/>
        </p:nvSpPr>
        <p:spPr>
          <a:xfrm>
            <a:off x="3305589" y="632217"/>
            <a:ext cx="3475282" cy="388400"/>
          </a:xfrm>
          <a:prstGeom prst="rect">
            <a:avLst/>
          </a:prstGeom>
          <a:noFill/>
          <a:ln>
            <a:noFill/>
          </a:ln>
        </p:spPr>
        <p:txBody>
          <a:bodyPr spcFirstLastPara="1" wrap="square" lIns="0" tIns="121900" rIns="121900" bIns="121900" anchor="t" anchorCtr="0">
            <a:noAutofit/>
          </a:bodyPr>
          <a:lstStyle/>
          <a:p>
            <a:pPr marL="0" marR="0" lvl="0" indent="0" algn="l" defTabSz="1219215" rtl="0" eaLnBrk="1" fontAlgn="auto" latinLnBrk="0" hangingPunct="1">
              <a:lnSpc>
                <a:spcPct val="100000"/>
              </a:lnSpc>
              <a:spcBef>
                <a:spcPts val="0"/>
              </a:spcBef>
              <a:spcAft>
                <a:spcPts val="0"/>
              </a:spcAft>
              <a:buClr>
                <a:srgbClr val="000000"/>
              </a:buClr>
              <a:buSzPts val="1100"/>
              <a:buFontTx/>
              <a:buNone/>
              <a:tabLst/>
              <a:defRPr/>
            </a:pPr>
            <a:r>
              <a:rPr kumimoji="0" lang="en-GB" sz="1334" b="1" i="0" u="none" strike="noStrike" kern="1200" cap="none" spc="0" normalizeH="0" baseline="0" noProof="0" dirty="0">
                <a:ln>
                  <a:noFill/>
                </a:ln>
                <a:solidFill>
                  <a:srgbClr val="595959"/>
                </a:solidFill>
                <a:effectLst/>
                <a:uLnTx/>
                <a:uFillTx/>
                <a:latin typeface="Avenir Next" panose="020B0503020202020204" pitchFamily="34" charset="0"/>
                <a:ea typeface="Barlow Condensed"/>
                <a:cs typeface="Barlow Condensed"/>
                <a:sym typeface="Barlow Condensed"/>
              </a:rPr>
              <a:t>Principal Engineer</a:t>
            </a:r>
          </a:p>
        </p:txBody>
      </p:sp>
      <p:sp>
        <p:nvSpPr>
          <p:cNvPr id="2" name="Rectangle 1">
            <a:extLst>
              <a:ext uri="{FF2B5EF4-FFF2-40B4-BE49-F238E27FC236}">
                <a16:creationId xmlns:a16="http://schemas.microsoft.com/office/drawing/2014/main" id="{0B017E43-CF5E-C941-AE3E-841D17FE6F5B}"/>
              </a:ext>
            </a:extLst>
          </p:cNvPr>
          <p:cNvSpPr/>
          <p:nvPr/>
        </p:nvSpPr>
        <p:spPr>
          <a:xfrm>
            <a:off x="7639461" y="3744086"/>
            <a:ext cx="4321289" cy="2915395"/>
          </a:xfrm>
          <a:prstGeom prst="rect">
            <a:avLst/>
          </a:prstGeom>
        </p:spPr>
        <p:txBody>
          <a:bodyPr wrap="square" lIns="108000" tIns="72000" rIns="108000" bIns="72000">
            <a:spAutoFit/>
          </a:bodyPr>
          <a:lstStyle/>
          <a:p>
            <a:pPr marL="0" marR="0" lvl="0" indent="0" algn="l" defTabSz="914400" rtl="0" eaLnBrk="1" fontAlgn="auto" latinLnBrk="0" hangingPunct="1">
              <a:lnSpc>
                <a:spcPct val="100000"/>
              </a:lnSpc>
              <a:spcBef>
                <a:spcPts val="0"/>
              </a:spcBef>
              <a:spcAft>
                <a:spcPts val="0"/>
              </a:spcAft>
              <a:buClr>
                <a:srgbClr val="00B0F0"/>
              </a:buClr>
              <a:buSzTx/>
              <a:buFontTx/>
              <a:buNone/>
              <a:tabLst/>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CITI BANK</a:t>
            </a: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r>
              <a:rPr lang="en-GB" sz="900" b="1" kern="1200" spc="6" dirty="0">
                <a:solidFill>
                  <a:prstClr val="black">
                    <a:lumMod val="65000"/>
                    <a:lumOff val="35000"/>
                  </a:prstClr>
                </a:solidFill>
                <a:latin typeface="Avenir Next" panose="020B0503020202020204" pitchFamily="34" charset="0"/>
                <a:cs typeface="Arial"/>
                <a:sym typeface="Helvetica Light"/>
              </a:rPr>
              <a:t>Payments –CAAS,EMEA</a:t>
            </a:r>
            <a:endPar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Led the migration of a legacy on-premises commercial cards application to Azure, achieving cost reduction and enhancing scalability, which resulted in improved customer experience.</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Designed and implemented a comprehensive integration solution that facilitated seamless data exchange between commercial cards applications, reducing manual data entry by 80% and enhancing data accuracy.</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Optimized resource allocation in a multi-cloud environment, resulting in a 15% reduction in infrastructure costs while maintaining high availability.</a:t>
            </a:r>
            <a:endParaRPr kumimoji="0" lang="en-GB"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endPar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Bank of New York Mellon -Cognizant</a:t>
            </a: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r>
              <a:rPr lang="en-GB" sz="900" b="1" kern="1200" spc="6" dirty="0">
                <a:solidFill>
                  <a:prstClr val="black">
                    <a:lumMod val="65000"/>
                    <a:lumOff val="35000"/>
                  </a:prstClr>
                </a:solidFill>
                <a:latin typeface="Avenir Next" panose="020B0503020202020204" pitchFamily="34" charset="0"/>
                <a:cs typeface="Arial"/>
                <a:sym typeface="Helvetica Light"/>
              </a:rPr>
              <a:t>Investment Management, North America</a:t>
            </a:r>
            <a:endPar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Collaborated with business stakeholders to define key performance indicators (KPIs) and implemented monitoring systems that allowed real-time tracking of system performance, leading to data-driven decision-making and improved business outcomes.</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Implemented robust security measures, including encryption and authentication protocols, resulting in achieving compliance with industry-specific security standards and safeguarding sensitive customer data.</a:t>
            </a:r>
            <a:endParaRPr kumimoji="0" lang="en-GB"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p:txBody>
      </p:sp>
      <p:sp>
        <p:nvSpPr>
          <p:cNvPr id="47" name="Google Shape;142;p18">
            <a:extLst>
              <a:ext uri="{FF2B5EF4-FFF2-40B4-BE49-F238E27FC236}">
                <a16:creationId xmlns:a16="http://schemas.microsoft.com/office/drawing/2014/main" id="{FB8EBDF6-1D4E-0A46-88AA-3E9DBF5828B5}"/>
              </a:ext>
            </a:extLst>
          </p:cNvPr>
          <p:cNvSpPr/>
          <p:nvPr/>
        </p:nvSpPr>
        <p:spPr>
          <a:xfrm>
            <a:off x="493534" y="4929036"/>
            <a:ext cx="1868000" cy="510400"/>
          </a:xfrm>
          <a:prstGeom prst="roundRect">
            <a:avLst>
              <a:gd name="adj" fmla="val 50000"/>
            </a:avLst>
          </a:prstGeom>
          <a:solidFill>
            <a:schemeClr val="bg2"/>
          </a:solidFill>
          <a:ln>
            <a:noFill/>
          </a:ln>
        </p:spPr>
        <p:txBody>
          <a:bodyPr spcFirstLastPara="1" wrap="square" lIns="24367" tIns="121900" rIns="24367" bIns="121900" anchor="ctr" anchorCtr="0">
            <a:noAutofit/>
          </a:bodyPr>
          <a:lstStyle/>
          <a:p>
            <a:pPr lvl="0" algn="ctr" defTabSz="1219215" hangingPunct="1">
              <a:buClr>
                <a:srgbClr val="000000"/>
              </a:buClr>
              <a:defRPr/>
            </a:pPr>
            <a:r>
              <a:rPr lang="en-GB" sz="1200" kern="1200" dirty="0">
                <a:solidFill>
                  <a:srgbClr val="FFFFFF"/>
                </a:solidFill>
                <a:latin typeface="Avenir Next" panose="020B0503020202020204" pitchFamily="34" charset="0"/>
                <a:ea typeface="Barlow Condensed Medium"/>
                <a:cs typeface="Barlow Condensed Medium"/>
                <a:sym typeface="Barlow Condensed Medium"/>
              </a:rPr>
              <a:t>EMV,PCI-DSS and 3D Secure</a:t>
            </a:r>
          </a:p>
        </p:txBody>
      </p:sp>
      <p:sp>
        <p:nvSpPr>
          <p:cNvPr id="48" name="Google Shape;170;p18">
            <a:extLst>
              <a:ext uri="{FF2B5EF4-FFF2-40B4-BE49-F238E27FC236}">
                <a16:creationId xmlns:a16="http://schemas.microsoft.com/office/drawing/2014/main" id="{88FA8CCF-C96F-F446-92B2-B600CB59675B}"/>
              </a:ext>
            </a:extLst>
          </p:cNvPr>
          <p:cNvSpPr/>
          <p:nvPr/>
        </p:nvSpPr>
        <p:spPr>
          <a:xfrm>
            <a:off x="512134" y="5534771"/>
            <a:ext cx="1830800" cy="508800"/>
          </a:xfrm>
          <a:prstGeom prst="roundRect">
            <a:avLst>
              <a:gd name="adj" fmla="val 50000"/>
            </a:avLst>
          </a:prstGeom>
          <a:solidFill>
            <a:schemeClr val="bg2"/>
          </a:solidFill>
          <a:ln>
            <a:noFill/>
          </a:ln>
        </p:spPr>
        <p:txBody>
          <a:bodyPr spcFirstLastPara="1" wrap="square" lIns="24367" tIns="121900" rIns="24367" bIns="121900" anchor="ctr" anchorCtr="0">
            <a:noAutofit/>
          </a:bodyPr>
          <a:lstStyle/>
          <a:p>
            <a:pPr marL="0" marR="0" lvl="0" indent="0" algn="ctr" defTabSz="1219215" rtl="0" eaLnBrk="1" fontAlgn="auto" latinLnBrk="0" hangingPunct="1">
              <a:lnSpc>
                <a:spcPct val="100000"/>
              </a:lnSpc>
              <a:spcBef>
                <a:spcPts val="0"/>
              </a:spcBef>
              <a:spcAft>
                <a:spcPts val="0"/>
              </a:spcAft>
              <a:buClr>
                <a:srgbClr val="000000"/>
              </a:buClr>
              <a:buSzTx/>
              <a:buFontTx/>
              <a:buNone/>
              <a:tabLst/>
              <a:defRPr/>
            </a:pPr>
            <a:r>
              <a:rPr kumimoji="0" lang="en-GB" sz="1200" b="0" i="0" u="none" strike="noStrike" kern="1200" cap="none" spc="0" normalizeH="0" baseline="0" noProof="0" dirty="0">
                <a:ln>
                  <a:noFill/>
                </a:ln>
                <a:solidFill>
                  <a:srgbClr val="FFFFFF"/>
                </a:solidFill>
                <a:effectLst/>
                <a:uLnTx/>
                <a:uFillTx/>
                <a:latin typeface="Avenir Next" panose="020B0503020202020204" pitchFamily="34" charset="0"/>
                <a:ea typeface="Barlow Condensed Medium"/>
                <a:cs typeface="Barlow Condensed Medium"/>
                <a:sym typeface="Barlow Condensed Medium"/>
              </a:rPr>
              <a:t>Application</a:t>
            </a:r>
          </a:p>
          <a:p>
            <a:pPr marL="0" marR="0" lvl="0" indent="0" algn="ctr" defTabSz="1219215" rtl="0" eaLnBrk="1" fontAlgn="auto" latinLnBrk="0" hangingPunct="1">
              <a:lnSpc>
                <a:spcPct val="100000"/>
              </a:lnSpc>
              <a:spcBef>
                <a:spcPts val="0"/>
              </a:spcBef>
              <a:spcAft>
                <a:spcPts val="0"/>
              </a:spcAft>
              <a:buClr>
                <a:srgbClr val="000000"/>
              </a:buClr>
              <a:buSzTx/>
              <a:buFontTx/>
              <a:buNone/>
              <a:tabLst/>
              <a:defRPr/>
            </a:pPr>
            <a:r>
              <a:rPr kumimoji="0" lang="en-GB" sz="1200" b="0" i="0" u="none" strike="noStrike" kern="1200" cap="none" spc="0" normalizeH="0" baseline="0" noProof="0" dirty="0">
                <a:ln>
                  <a:noFill/>
                </a:ln>
                <a:solidFill>
                  <a:srgbClr val="FFFFFF"/>
                </a:solidFill>
                <a:effectLst/>
                <a:uLnTx/>
                <a:uFillTx/>
                <a:latin typeface="Avenir Next" panose="020B0503020202020204" pitchFamily="34" charset="0"/>
                <a:ea typeface="Barlow Condensed Medium"/>
                <a:cs typeface="Barlow Condensed Medium"/>
                <a:sym typeface="Barlow Condensed Medium"/>
              </a:rPr>
              <a:t>Modernisation</a:t>
            </a:r>
          </a:p>
        </p:txBody>
      </p:sp>
      <p:sp>
        <p:nvSpPr>
          <p:cNvPr id="49" name="Google Shape;171;p18">
            <a:extLst>
              <a:ext uri="{FF2B5EF4-FFF2-40B4-BE49-F238E27FC236}">
                <a16:creationId xmlns:a16="http://schemas.microsoft.com/office/drawing/2014/main" id="{2AFFA37C-3D9E-034E-AB44-384F09907CCF}"/>
              </a:ext>
            </a:extLst>
          </p:cNvPr>
          <p:cNvSpPr/>
          <p:nvPr/>
        </p:nvSpPr>
        <p:spPr>
          <a:xfrm>
            <a:off x="512134" y="4312727"/>
            <a:ext cx="1830800" cy="508800"/>
          </a:xfrm>
          <a:prstGeom prst="roundRect">
            <a:avLst>
              <a:gd name="adj" fmla="val 50000"/>
            </a:avLst>
          </a:prstGeom>
          <a:solidFill>
            <a:schemeClr val="bg2"/>
          </a:solidFill>
          <a:ln>
            <a:noFill/>
          </a:ln>
        </p:spPr>
        <p:txBody>
          <a:bodyPr spcFirstLastPara="1" wrap="square" lIns="24367" tIns="121900" rIns="24367" bIns="121900" anchor="ctr" anchorCtr="0">
            <a:noAutofit/>
          </a:bodyPr>
          <a:lstStyle/>
          <a:p>
            <a:pPr algn="ctr" defTabSz="1219215" hangingPunct="1">
              <a:buClr>
                <a:srgbClr val="000000"/>
              </a:buClr>
              <a:defRPr/>
            </a:pPr>
            <a:r>
              <a:rPr lang="en-GB" sz="1200" kern="1200" dirty="0">
                <a:solidFill>
                  <a:srgbClr val="FFFFFF"/>
                </a:solidFill>
                <a:latin typeface="Avenir Next" panose="020B0503020202020204" pitchFamily="34" charset="0"/>
                <a:ea typeface="Barlow Condensed Medium"/>
                <a:cs typeface="Barlow Condensed Medium"/>
                <a:sym typeface="Barlow Condensed Medium"/>
              </a:rPr>
              <a:t>Cloud Native and Microservice Architectural Patterns</a:t>
            </a:r>
          </a:p>
        </p:txBody>
      </p:sp>
      <p:sp>
        <p:nvSpPr>
          <p:cNvPr id="29" name="Google Shape;143;p18">
            <a:extLst>
              <a:ext uri="{FF2B5EF4-FFF2-40B4-BE49-F238E27FC236}">
                <a16:creationId xmlns:a16="http://schemas.microsoft.com/office/drawing/2014/main" id="{229F282F-E293-874C-99FB-B373C8EE66C1}"/>
              </a:ext>
            </a:extLst>
          </p:cNvPr>
          <p:cNvSpPr txBox="1"/>
          <p:nvPr/>
        </p:nvSpPr>
        <p:spPr>
          <a:xfrm>
            <a:off x="923898" y="6267675"/>
            <a:ext cx="1470883" cy="251263"/>
          </a:xfrm>
          <a:prstGeom prst="rect">
            <a:avLst/>
          </a:prstGeom>
          <a:noFill/>
          <a:ln>
            <a:noFill/>
          </a:ln>
        </p:spPr>
        <p:txBody>
          <a:bodyPr spcFirstLastPara="1" wrap="square" lIns="0" tIns="0" rIns="0" bIns="0" anchor="t" anchorCtr="0">
            <a:noAutofit/>
          </a:bodyPr>
          <a:lstStyle/>
          <a:p>
            <a:pPr marL="0" marR="0" lvl="0" indent="0" algn="l" defTabSz="1219215" rtl="0" eaLnBrk="1" fontAlgn="auto" latinLnBrk="0" hangingPunct="1">
              <a:lnSpc>
                <a:spcPct val="115000"/>
              </a:lnSpc>
              <a:spcBef>
                <a:spcPts val="0"/>
              </a:spcBef>
              <a:spcAft>
                <a:spcPts val="0"/>
              </a:spcAft>
              <a:buClr>
                <a:srgbClr val="000000"/>
              </a:buClr>
              <a:buSzTx/>
              <a:buFontTx/>
              <a:buNone/>
              <a:tabLst/>
              <a:defRPr/>
            </a:pPr>
            <a:r>
              <a:rPr kumimoji="0" lang="en-GB" sz="1200" b="1" i="0" u="none" strike="noStrike" kern="1200" cap="none" spc="0" normalizeH="0" baseline="0" noProof="0" dirty="0">
                <a:ln>
                  <a:noFill/>
                </a:ln>
                <a:solidFill>
                  <a:srgbClr val="595959"/>
                </a:solidFill>
                <a:effectLst/>
                <a:uLnTx/>
                <a:uFillTx/>
                <a:latin typeface="Avenir Next" panose="020B0503020202020204" pitchFamily="34" charset="0"/>
                <a:ea typeface="Barlow Condensed"/>
                <a:cs typeface="Barlow Condensed"/>
                <a:sym typeface="Barlow Condensed"/>
              </a:rPr>
              <a:t> Chennai, INDIA</a:t>
            </a:r>
          </a:p>
          <a:p>
            <a:pPr marL="0" marR="0" lvl="0" indent="0" algn="l" defTabSz="1219215" rtl="0" eaLnBrk="1" fontAlgn="auto" latinLnBrk="0" hangingPunct="1">
              <a:lnSpc>
                <a:spcPct val="115000"/>
              </a:lnSpc>
              <a:spcBef>
                <a:spcPts val="0"/>
              </a:spcBef>
              <a:spcAft>
                <a:spcPts val="0"/>
              </a:spcAft>
              <a:buClr>
                <a:srgbClr val="000000"/>
              </a:buClr>
              <a:buSzTx/>
              <a:buFontTx/>
              <a:buNone/>
              <a:tabLst/>
              <a:defRPr/>
            </a:pPr>
            <a:r>
              <a:rPr lang="en-GB" sz="1200" b="1" kern="1200" dirty="0">
                <a:solidFill>
                  <a:srgbClr val="595959"/>
                </a:solidFill>
                <a:latin typeface="Avenir Next" panose="020B0503020202020204" pitchFamily="34" charset="0"/>
                <a:ea typeface="Barlow Condensed SemiBold"/>
                <a:cs typeface="Barlow Condensed SemiBold"/>
                <a:sym typeface="Barlow Condensed"/>
              </a:rPr>
              <a:t>+91 7811881620</a:t>
            </a:r>
            <a:endParaRPr kumimoji="0" lang="en-GB" sz="1200" b="0" i="0" u="none" strike="noStrike" kern="1200" cap="none" spc="0" normalizeH="0" baseline="0" noProof="0" dirty="0">
              <a:ln>
                <a:noFill/>
              </a:ln>
              <a:solidFill>
                <a:srgbClr val="595959"/>
              </a:solidFill>
              <a:effectLst/>
              <a:uLnTx/>
              <a:uFillTx/>
              <a:latin typeface="Avenir Next" panose="020B0503020202020204" pitchFamily="34" charset="0"/>
              <a:ea typeface="Barlow Condensed SemiBold"/>
              <a:cs typeface="Barlow Condensed SemiBold"/>
              <a:sym typeface="Barlow Condensed SemiBold"/>
            </a:endParaRPr>
          </a:p>
        </p:txBody>
      </p:sp>
      <p:sp>
        <p:nvSpPr>
          <p:cNvPr id="5" name="Google Shape;145;p18">
            <a:extLst>
              <a:ext uri="{FF2B5EF4-FFF2-40B4-BE49-F238E27FC236}">
                <a16:creationId xmlns:a16="http://schemas.microsoft.com/office/drawing/2014/main" id="{6D0CBAEF-223E-4E89-9A34-5F9FA5CB4770}"/>
              </a:ext>
            </a:extLst>
          </p:cNvPr>
          <p:cNvSpPr txBox="1"/>
          <p:nvPr/>
        </p:nvSpPr>
        <p:spPr>
          <a:xfrm>
            <a:off x="3199262" y="826417"/>
            <a:ext cx="2301975" cy="429600"/>
          </a:xfrm>
          <a:prstGeom prst="rect">
            <a:avLst/>
          </a:prstGeom>
          <a:noFill/>
          <a:ln>
            <a:noFill/>
          </a:ln>
        </p:spPr>
        <p:txBody>
          <a:bodyPr spcFirstLastPara="1" wrap="square" lIns="121900" tIns="121900" rIns="121900" bIns="121900" anchor="t" anchorCtr="0">
            <a:noAutofit/>
          </a:bodyPr>
          <a:lstStyle/>
          <a:p>
            <a:pPr marL="0" marR="0" lvl="0" indent="0" algn="l" defTabSz="1219215" rtl="0" eaLnBrk="1" fontAlgn="auto" latinLnBrk="0" hangingPunct="1">
              <a:lnSpc>
                <a:spcPct val="100000"/>
              </a:lnSpc>
              <a:spcBef>
                <a:spcPts val="0"/>
              </a:spcBef>
              <a:spcAft>
                <a:spcPts val="0"/>
              </a:spcAft>
              <a:buClr>
                <a:srgbClr val="000000"/>
              </a:buClr>
              <a:buSzTx/>
              <a:buFontTx/>
              <a:buNone/>
              <a:tabLst/>
              <a:defRPr/>
            </a:pPr>
            <a:r>
              <a:rPr kumimoji="0" lang="en-GB" sz="1600" b="1" i="0" u="none" strike="noStrike" kern="1200" cap="none" spc="0" normalizeH="0" baseline="0" noProof="0" dirty="0">
                <a:ln>
                  <a:noFill/>
                </a:ln>
                <a:solidFill>
                  <a:srgbClr val="000000"/>
                </a:solidFill>
                <a:effectLst/>
                <a:uLnTx/>
                <a:uFillTx/>
                <a:latin typeface="Avenir Next" panose="020B0503020202020204" pitchFamily="34" charset="0"/>
                <a:ea typeface="Barlow Condensed"/>
                <a:cs typeface="Barlow Condensed"/>
                <a:sym typeface="Barlow Condensed"/>
              </a:rPr>
              <a:t>Expertise</a:t>
            </a:r>
          </a:p>
        </p:txBody>
      </p:sp>
      <p:sp>
        <p:nvSpPr>
          <p:cNvPr id="7" name="Rectangle 6">
            <a:extLst>
              <a:ext uri="{FF2B5EF4-FFF2-40B4-BE49-F238E27FC236}">
                <a16:creationId xmlns:a16="http://schemas.microsoft.com/office/drawing/2014/main" id="{BC30A482-648E-4A9E-B04D-47E623F40E3E}"/>
              </a:ext>
            </a:extLst>
          </p:cNvPr>
          <p:cNvSpPr/>
          <p:nvPr/>
        </p:nvSpPr>
        <p:spPr>
          <a:xfrm>
            <a:off x="3046293" y="1073165"/>
            <a:ext cx="5682974" cy="2121454"/>
          </a:xfrm>
          <a:prstGeom prst="rect">
            <a:avLst/>
          </a:prstGeom>
          <a:noFill/>
          <a:ln>
            <a:noFill/>
          </a:ln>
        </p:spPr>
        <p:txBody>
          <a:bodyPr spcFirstLastPara="1" wrap="square" lIns="121900" tIns="121900" rIns="121900" bIns="121900" anchor="t" anchorCtr="0">
            <a:noAutofit/>
          </a:bodyPr>
          <a:lstStyle/>
          <a:p>
            <a:pPr marL="186690" indent="-171450" defTabSz="1828800" fontAlgn="base" hangingPunct="1">
              <a:spcAft>
                <a:spcPct val="0"/>
              </a:spcAft>
              <a:buClr>
                <a:srgbClr val="00B0F0"/>
              </a:buClr>
              <a:buFont typeface="Arial" panose="020B0604020202020204" pitchFamily="34" charset="0"/>
              <a:buChar char="•"/>
              <a:defRPr/>
            </a:pPr>
            <a:r>
              <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Proficiency in designing solutions on cloud platforms like AWS, Azure.</a:t>
            </a:r>
          </a:p>
          <a:p>
            <a:pPr marL="186690" indent="-171450" defTabSz="1828800" fontAlgn="base" hangingPunct="1">
              <a:spcAft>
                <a:spcPct val="0"/>
              </a:spcAft>
              <a:buClr>
                <a:srgbClr val="00B0F0"/>
              </a:buClr>
              <a:buFont typeface="Arial" panose="020B0604020202020204" pitchFamily="34" charset="0"/>
              <a:buChar char="•"/>
              <a:defRPr/>
            </a:pPr>
            <a:r>
              <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Implementing cloud-native architectures, including serverless, Reactive,containers, and hybrid deployments.</a:t>
            </a:r>
          </a:p>
          <a:p>
            <a:pPr marL="186690" indent="-171450" defTabSz="1828800" fontAlgn="base" hangingPunct="1">
              <a:spcAft>
                <a:spcPct val="0"/>
              </a:spcAft>
              <a:buClr>
                <a:srgbClr val="00B0F0"/>
              </a:buClr>
              <a:buFont typeface="Arial" panose="020B0604020202020204" pitchFamily="34" charset="0"/>
              <a:buChar char="•"/>
              <a:defRPr/>
            </a:pPr>
            <a:r>
              <a:rPr kumimoji="0" lang="en-US" sz="110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Hands on Experience in Java 17,Kafka,Spring boot,Spring Batch,Flink,Reactive programming, Kubernetes NoSQL(Mongo, Cassandra &amp;RDS),BPMN –Camunda</a:t>
            </a:r>
            <a:r>
              <a:rPr kumimoji="0" lang="en-US" sz="1100" b="1"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a:t>
            </a:r>
          </a:p>
          <a:p>
            <a:pPr marL="186690" indent="-171450" defTabSz="1828800" fontAlgn="base" hangingPunct="1">
              <a:spcAft>
                <a:spcPct val="0"/>
              </a:spcAft>
              <a:buClr>
                <a:srgbClr val="00B0F0"/>
              </a:buClr>
              <a:buFont typeface="Arial" panose="020B0604020202020204" pitchFamily="34" charset="0"/>
              <a:buChar char="•"/>
              <a:defRPr/>
            </a:pPr>
            <a:r>
              <a:rPr lang="en-US" sz="1100" kern="1200" spc="6" dirty="0">
                <a:solidFill>
                  <a:prstClr val="black">
                    <a:lumMod val="65000"/>
                    <a:lumOff val="35000"/>
                  </a:prstClr>
                </a:solidFill>
                <a:latin typeface="Avenir Next" panose="020B0503020202020204" pitchFamily="34" charset="0"/>
                <a:cs typeface="Arial"/>
              </a:rPr>
              <a:t>Creating architecture diagrams, blueprints, technical documentation and Evaluating various architecture patterns and selecting the best fit for the project.</a:t>
            </a:r>
          </a:p>
          <a:p>
            <a:pPr marL="186690" indent="-171450" defTabSz="1828800" fontAlgn="base" hangingPunct="1">
              <a:spcAft>
                <a:spcPct val="0"/>
              </a:spcAft>
              <a:buClr>
                <a:srgbClr val="00B0F0"/>
              </a:buClr>
              <a:buFont typeface="Arial" panose="020B0604020202020204" pitchFamily="34" charset="0"/>
              <a:buChar char="•"/>
              <a:defRPr/>
            </a:pPr>
            <a:r>
              <a:rPr lang="en-IN" sz="1100" b="1" kern="1200" spc="6" dirty="0">
                <a:solidFill>
                  <a:prstClr val="black">
                    <a:lumMod val="65000"/>
                    <a:lumOff val="35000"/>
                  </a:prstClr>
                </a:solidFill>
                <a:latin typeface="Avenir Next" panose="020B0503020202020204" pitchFamily="34" charset="0"/>
                <a:cs typeface="Arial"/>
              </a:rPr>
              <a:t>Collaborated with stakeholders to align technical design with card industry standards such as EMV, PCI-DSS, and 3D Secure (3DS)</a:t>
            </a:r>
            <a:r>
              <a:rPr lang="en-US" sz="1100" b="1" kern="1200" spc="6" dirty="0">
                <a:solidFill>
                  <a:prstClr val="black">
                    <a:lumMod val="65000"/>
                    <a:lumOff val="35000"/>
                  </a:prstClr>
                </a:solidFill>
                <a:latin typeface="Avenir Next" panose="020B0503020202020204" pitchFamily="34" charset="0"/>
                <a:cs typeface="Arial"/>
              </a:rPr>
              <a:t>.</a:t>
            </a:r>
          </a:p>
          <a:p>
            <a:pPr marL="186690" indent="-171450" defTabSz="1828800" fontAlgn="base" hangingPunct="1">
              <a:spcAft>
                <a:spcPct val="0"/>
              </a:spcAft>
              <a:buClr>
                <a:srgbClr val="00B0F0"/>
              </a:buClr>
              <a:buFont typeface="Arial" panose="020B0604020202020204" pitchFamily="34" charset="0"/>
              <a:buChar char="•"/>
              <a:defRPr/>
            </a:pPr>
            <a:r>
              <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Collaborating with business analysts, developers, and business leaders to gather requirements and align solutions with business needs.</a:t>
            </a:r>
          </a:p>
          <a:p>
            <a:pPr marL="186690" indent="-171450" defTabSz="1828800" fontAlgn="base" hangingPunct="1">
              <a:spcAft>
                <a:spcPct val="0"/>
              </a:spcAft>
              <a:buClr>
                <a:srgbClr val="00B0F0"/>
              </a:buClr>
              <a:buFont typeface="Arial" panose="020B0604020202020204" pitchFamily="34" charset="0"/>
              <a:buChar char="•"/>
              <a:defRPr/>
            </a:pPr>
            <a:r>
              <a:rPr lang="en-IN" sz="1100" kern="1200" spc="6" dirty="0">
                <a:solidFill>
                  <a:prstClr val="black">
                    <a:lumMod val="65000"/>
                    <a:lumOff val="35000"/>
                  </a:prstClr>
                </a:solidFill>
                <a:latin typeface="Avenir Next" panose="020B0503020202020204" pitchFamily="34" charset="0"/>
                <a:cs typeface="Arial"/>
              </a:rPr>
              <a:t>Experience in card transaction streams with fraud detection models</a:t>
            </a:r>
            <a:r>
              <a:rPr lang="en-US" sz="1100" kern="1200" spc="6" dirty="0">
                <a:solidFill>
                  <a:prstClr val="black">
                    <a:lumMod val="65000"/>
                    <a:lumOff val="35000"/>
                  </a:prstClr>
                </a:solidFill>
                <a:latin typeface="Avenir Next" panose="020B0503020202020204" pitchFamily="34" charset="0"/>
                <a:cs typeface="Arial"/>
              </a:rPr>
              <a:t>.</a:t>
            </a:r>
          </a:p>
          <a:p>
            <a:pPr marL="186690" indent="-171450" defTabSz="1828800" fontAlgn="base" hangingPunct="1">
              <a:spcAft>
                <a:spcPct val="0"/>
              </a:spcAft>
              <a:buClr>
                <a:srgbClr val="00B0F0"/>
              </a:buClr>
              <a:buFont typeface="Arial" panose="020B0604020202020204" pitchFamily="34" charset="0"/>
              <a:buChar char="•"/>
              <a:defRPr/>
            </a:pPr>
            <a:r>
              <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rPr>
              <a:t>Identifying performance bottlenecks and optimizing system performance for scalability and responsiveness.</a:t>
            </a:r>
          </a:p>
          <a:p>
            <a:pPr marL="186690" indent="-171450" defTabSz="1828800" fontAlgn="base" hangingPunct="1">
              <a:spcAft>
                <a:spcPct val="0"/>
              </a:spcAft>
              <a:buClr>
                <a:srgbClr val="00B0F0"/>
              </a:buClr>
              <a:buFont typeface="Arial" panose="020B0604020202020204" pitchFamily="34" charset="0"/>
              <a:buChar char="•"/>
              <a:defRPr/>
            </a:pPr>
            <a:endPar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endParaRPr>
          </a:p>
          <a:p>
            <a:pPr marL="186690" indent="-171450" defTabSz="1828800" fontAlgn="base" hangingPunct="1">
              <a:spcAft>
                <a:spcPct val="0"/>
              </a:spcAft>
              <a:buClr>
                <a:srgbClr val="00B0F0"/>
              </a:buClr>
              <a:buFont typeface="Arial" panose="020B0604020202020204" pitchFamily="34" charset="0"/>
              <a:buChar char="•"/>
              <a:defRPr/>
            </a:pPr>
            <a:endParaRPr kumimoji="0" lang="en-US"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endParaRPr>
          </a:p>
          <a:p>
            <a:pPr marL="186690" indent="-171450" defTabSz="1828800" fontAlgn="base" hangingPunct="1">
              <a:spcAft>
                <a:spcPct val="0"/>
              </a:spcAft>
              <a:buClr>
                <a:srgbClr val="00B0F0"/>
              </a:buClr>
              <a:buFont typeface="Arial" panose="020B0604020202020204" pitchFamily="34" charset="0"/>
              <a:buChar char="•"/>
              <a:defRPr/>
            </a:pPr>
            <a:endParaRPr kumimoji="0" lang="en-GB"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endParaRPr>
          </a:p>
          <a:p>
            <a:pPr marL="186690" indent="-171450" defTabSz="1828800" fontAlgn="base" hangingPunct="1">
              <a:spcAft>
                <a:spcPct val="0"/>
              </a:spcAft>
              <a:buClr>
                <a:srgbClr val="00B0F0"/>
              </a:buClr>
              <a:buFont typeface="Arial" panose="020B0604020202020204" pitchFamily="34" charset="0"/>
              <a:buChar char="•"/>
              <a:defRPr/>
            </a:pPr>
            <a:endParaRPr lang="en-GB" sz="1100" kern="1200" spc="6" dirty="0">
              <a:solidFill>
                <a:prstClr val="black">
                  <a:lumMod val="65000"/>
                  <a:lumOff val="35000"/>
                </a:prstClr>
              </a:solidFill>
              <a:latin typeface="Avenir Next" panose="020B0503020202020204" pitchFamily="34" charset="0"/>
              <a:cs typeface="Arial"/>
            </a:endParaRPr>
          </a:p>
        </p:txBody>
      </p:sp>
      <p:sp>
        <p:nvSpPr>
          <p:cNvPr id="22" name="Google Shape;146;p18">
            <a:extLst>
              <a:ext uri="{FF2B5EF4-FFF2-40B4-BE49-F238E27FC236}">
                <a16:creationId xmlns:a16="http://schemas.microsoft.com/office/drawing/2014/main" id="{E0D9889C-682C-2A43-9DE7-AB54797D5370}"/>
              </a:ext>
            </a:extLst>
          </p:cNvPr>
          <p:cNvSpPr txBox="1"/>
          <p:nvPr/>
        </p:nvSpPr>
        <p:spPr>
          <a:xfrm>
            <a:off x="3199262" y="3776119"/>
            <a:ext cx="4260792" cy="3152800"/>
          </a:xfrm>
          <a:prstGeom prst="rect">
            <a:avLst/>
          </a:prstGeom>
          <a:noFill/>
          <a:ln>
            <a:noFill/>
          </a:ln>
        </p:spPr>
        <p:txBody>
          <a:bodyPr spcFirstLastPara="1" wrap="square" lIns="108000" tIns="72000" rIns="108000" bIns="72000" anchor="t" anchorCtr="0">
            <a:noAutofit/>
          </a:bodyPr>
          <a:lstStyle/>
          <a:p>
            <a:pPr hangingPunct="1">
              <a:buClr>
                <a:srgbClr val="00B0F0"/>
              </a:buClr>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NATWEST </a:t>
            </a:r>
          </a:p>
          <a:p>
            <a:pPr hangingPunct="1">
              <a:buClr>
                <a:srgbClr val="00B0F0"/>
              </a:buClr>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Fraud Prevention –Debit Card Profiling –Bangalore, India</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lang="en-IN" sz="900" kern="1200" spc="6" dirty="0">
                <a:solidFill>
                  <a:prstClr val="black">
                    <a:lumMod val="65000"/>
                    <a:lumOff val="35000"/>
                  </a:prstClr>
                </a:solidFill>
                <a:latin typeface="Avenir Next" panose="020B0503020202020204" pitchFamily="34" charset="0"/>
                <a:cs typeface="Arial"/>
              </a:rPr>
              <a:t>Defined scalable architectural patterns supporting high availability and low-latency decisioning for real-time fraud checks</a:t>
            </a:r>
            <a:r>
              <a:rPr lang="en-US" sz="900" kern="1200" spc="6" dirty="0">
                <a:solidFill>
                  <a:prstClr val="black">
                    <a:lumMod val="65000"/>
                    <a:lumOff val="35000"/>
                  </a:prstClr>
                </a:solidFill>
                <a:latin typeface="Avenir Next" panose="020B0503020202020204" pitchFamily="34" charset="0"/>
                <a:cs typeface="Arial"/>
                <a:sym typeface="Helvetica Light"/>
              </a:rPr>
              <a:t>.</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Orchestrated the integration of cards network APIs(Master and VISA) and partner systems, reducing data synchronization time by 70% and streamlining business processes.</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lang="en-IN" sz="900" kern="1200" spc="6" dirty="0">
                <a:solidFill>
                  <a:prstClr val="black">
                    <a:lumMod val="65000"/>
                    <a:lumOff val="35000"/>
                  </a:prstClr>
                </a:solidFill>
                <a:latin typeface="Avenir Next" panose="020B0503020202020204" pitchFamily="34" charset="0"/>
                <a:cs typeface="Arial"/>
              </a:rPr>
              <a:t>Collaborated with stakeholders to align technical design with card industry standards such as EMV, PCI-DSS, and 3D Secure (3DS)</a:t>
            </a:r>
            <a:r>
              <a:rPr lang="en-US" sz="900" kern="1200" spc="6" dirty="0">
                <a:solidFill>
                  <a:prstClr val="black">
                    <a:lumMod val="65000"/>
                    <a:lumOff val="35000"/>
                  </a:prstClr>
                </a:solidFill>
                <a:latin typeface="Avenir Next" panose="020B0503020202020204" pitchFamily="34" charset="0"/>
                <a:cs typeface="Arial"/>
                <a:sym typeface="Helvetica Light"/>
              </a:rPr>
              <a:t>.</a:t>
            </a:r>
          </a:p>
          <a:p>
            <a:pPr hangingPunct="1">
              <a:buClr>
                <a:srgbClr val="00B0F0"/>
              </a:buClr>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Wells Fargo</a:t>
            </a:r>
          </a:p>
          <a:p>
            <a:pPr hangingPunct="1">
              <a:buClr>
                <a:srgbClr val="00B0F0"/>
              </a:buClr>
              <a:defRPr/>
            </a:pPr>
            <a:r>
              <a:rPr kumimoji="0" lang="en-GB" sz="900" b="1"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Home/Consumer Lending –Scoring Engine ,North America</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Designed and implemented a cloud native architecture overhaul for an debit card transaction fraud prevention component, resulting in a 100% increase in concurrent user capacity during peak hours.</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Orchestrated the integration of cards network APIs(Master and VISA) and partner systems, reducing data synchronization time by 70% and streamlining business processes.</a:t>
            </a: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r>
              <a:rPr kumimoji="0" lang="en-US"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rPr>
              <a:t>Created comprehensive Business ,Application, Data and technology architecture documentation for a complex project, enhancing cross-team communication and minimizing misunderstandings.</a:t>
            </a:r>
            <a:endParaRPr kumimoji="0" lang="en-GB"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171450" marR="0" lvl="0" indent="-171450" algn="l" defTabSz="914400" rtl="0" eaLnBrk="1" fontAlgn="auto" latinLnBrk="0" hangingPunct="1">
              <a:lnSpc>
                <a:spcPct val="100000"/>
              </a:lnSpc>
              <a:spcBef>
                <a:spcPts val="0"/>
              </a:spcBef>
              <a:spcAft>
                <a:spcPts val="0"/>
              </a:spcAft>
              <a:buClr>
                <a:srgbClr val="00B0F0"/>
              </a:buClr>
              <a:buSzTx/>
              <a:buFont typeface="Arial" panose="020B0604020202020204" pitchFamily="34" charset="0"/>
              <a:buChar char="•"/>
              <a:tabLst/>
              <a:defRPr/>
            </a:pPr>
            <a:endParaRPr kumimoji="0" lang="en-GB"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endParaRPr kumimoji="0" lang="en-GB" sz="900" b="0" i="0" u="none" strike="noStrike" kern="1200" cap="none" spc="6" normalizeH="0" baseline="0" dirty="0">
              <a:ln>
                <a:noFill/>
              </a:ln>
              <a:solidFill>
                <a:prstClr val="black">
                  <a:lumMod val="65000"/>
                  <a:lumOff val="35000"/>
                </a:prstClr>
              </a:solidFill>
              <a:effectLst/>
              <a:uLnTx/>
              <a:uFillTx/>
              <a:latin typeface="Avenir Next" panose="020B0503020202020204" pitchFamily="34" charset="0"/>
              <a:cs typeface="Arial"/>
              <a:sym typeface="Helvetica Light"/>
            </a:endParaRPr>
          </a:p>
          <a:p>
            <a:pPr marL="0" marR="0" lvl="0" indent="0" algn="l" defTabSz="914400" rtl="0" eaLnBrk="1" fontAlgn="auto" latinLnBrk="0" hangingPunct="1">
              <a:lnSpc>
                <a:spcPct val="100000"/>
              </a:lnSpc>
              <a:spcBef>
                <a:spcPts val="0"/>
              </a:spcBef>
              <a:spcAft>
                <a:spcPts val="0"/>
              </a:spcAft>
              <a:buClr>
                <a:srgbClr val="00B0F0"/>
              </a:buClr>
              <a:buSzTx/>
              <a:buFontTx/>
              <a:buNone/>
              <a:tabLst/>
              <a:defRPr/>
            </a:pPr>
            <a:endParaRPr lang="en-GB" sz="900" kern="1200" spc="6" dirty="0">
              <a:solidFill>
                <a:prstClr val="black">
                  <a:lumMod val="65000"/>
                  <a:lumOff val="35000"/>
                </a:prstClr>
              </a:solidFill>
              <a:latin typeface="Avenir Next" panose="020B0503020202020204" pitchFamily="34" charset="0"/>
              <a:cs typeface="Arial"/>
              <a:sym typeface="Helvetica Light"/>
            </a:endParaRPr>
          </a:p>
        </p:txBody>
      </p:sp>
      <p:sp>
        <p:nvSpPr>
          <p:cNvPr id="27" name="Rectangle 26">
            <a:extLst>
              <a:ext uri="{FF2B5EF4-FFF2-40B4-BE49-F238E27FC236}">
                <a16:creationId xmlns:a16="http://schemas.microsoft.com/office/drawing/2014/main" id="{4FF4C8DD-DF8B-5042-A2E9-D092BC19828D}"/>
              </a:ext>
            </a:extLst>
          </p:cNvPr>
          <p:cNvSpPr/>
          <p:nvPr/>
        </p:nvSpPr>
        <p:spPr>
          <a:xfrm>
            <a:off x="5395506" y="1690086"/>
            <a:ext cx="2673910" cy="967130"/>
          </a:xfrm>
          <a:prstGeom prst="rect">
            <a:avLst/>
          </a:prstGeom>
          <a:noFill/>
          <a:ln>
            <a:noFill/>
          </a:ln>
        </p:spPr>
        <p:txBody>
          <a:bodyPr spcFirstLastPara="1" wrap="square" lIns="121900" tIns="121900" rIns="121900" bIns="121900" anchor="t" anchorCtr="0">
            <a:noAutofit/>
          </a:bodyPr>
          <a:lstStyle/>
          <a:p>
            <a:pPr marL="15240" defTabSz="1828800" fontAlgn="base" hangingPunct="1">
              <a:spcAft>
                <a:spcPct val="0"/>
              </a:spcAft>
              <a:buClr>
                <a:srgbClr val="00B0F0"/>
              </a:buClr>
              <a:defRPr/>
            </a:pPr>
            <a:endParaRPr kumimoji="0" lang="en-GB" sz="1100" b="0" i="0" u="none" strike="noStrike" kern="1200" cap="none" spc="6" normalizeH="0" baseline="0" noProof="0" dirty="0">
              <a:ln>
                <a:noFill/>
              </a:ln>
              <a:solidFill>
                <a:prstClr val="black">
                  <a:lumMod val="65000"/>
                  <a:lumOff val="35000"/>
                </a:prstClr>
              </a:solidFill>
              <a:effectLst/>
              <a:uLnTx/>
              <a:uFillTx/>
              <a:latin typeface="Avenir Next" panose="020B0503020202020204" pitchFamily="34" charset="0"/>
              <a:cs typeface="Arial"/>
              <a:sym typeface="Calibri"/>
            </a:endParaRPr>
          </a:p>
        </p:txBody>
      </p:sp>
      <p:sp>
        <p:nvSpPr>
          <p:cNvPr id="33" name="Footer Placeholder 4">
            <a:extLst>
              <a:ext uri="{FF2B5EF4-FFF2-40B4-BE49-F238E27FC236}">
                <a16:creationId xmlns:a16="http://schemas.microsoft.com/office/drawing/2014/main" id="{AFC14FE6-B55D-8D42-AD02-D3AF21DBBE22}"/>
              </a:ext>
            </a:extLst>
          </p:cNvPr>
          <p:cNvSpPr txBox="1"/>
          <p:nvPr/>
        </p:nvSpPr>
        <p:spPr>
          <a:xfrm>
            <a:off x="10502907" y="6652731"/>
            <a:ext cx="140431"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b="1">
                <a:solidFill>
                  <a:srgbClr val="646363"/>
                </a:solidFill>
                <a:latin typeface="Arial"/>
                <a:ea typeface="Arial"/>
                <a:cs typeface="Arial"/>
                <a:sym typeface="Arial"/>
              </a:defRPr>
            </a:lvl1pPr>
          </a:lstStyle>
          <a:p>
            <a:pPr marL="0" marR="0" lvl="0" indent="0" algn="l" defTabSz="914377" rtl="0" eaLnBrk="1" fontAlgn="auto" latinLnBrk="0" hangingPunct="0">
              <a:lnSpc>
                <a:spcPct val="100000"/>
              </a:lnSpc>
              <a:spcBef>
                <a:spcPts val="0"/>
              </a:spcBef>
              <a:spcAft>
                <a:spcPts val="0"/>
              </a:spcAft>
              <a:buClrTx/>
              <a:buSzTx/>
              <a:buFontTx/>
              <a:buNone/>
              <a:tabLst/>
              <a:defRPr/>
            </a:pPr>
            <a:endParaRPr kumimoji="0" lang="en-GB" sz="1000" b="1" i="0" u="none" strike="noStrike" kern="0" cap="none" spc="0" normalizeH="0" baseline="0" noProof="0" dirty="0">
              <a:ln>
                <a:noFill/>
              </a:ln>
              <a:solidFill>
                <a:srgbClr val="646363"/>
              </a:solidFill>
              <a:effectLst/>
              <a:uLnTx/>
              <a:uFillTx/>
              <a:latin typeface="Arial"/>
              <a:cs typeface="Arial"/>
              <a:sym typeface="Arial"/>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V="1">
            <a:off x="702241" y="6278638"/>
            <a:ext cx="193081" cy="193081"/>
          </a:xfrm>
          <a:prstGeom prst="rect">
            <a:avLst/>
          </a:prstGeom>
        </p:spPr>
      </p:pic>
      <p:sp>
        <p:nvSpPr>
          <p:cNvPr id="8" name="Oval 7">
            <a:extLst>
              <a:ext uri="{FF2B5EF4-FFF2-40B4-BE49-F238E27FC236}">
                <a16:creationId xmlns:a16="http://schemas.microsoft.com/office/drawing/2014/main" id="{1D2BAD69-7975-48DC-8A2F-D53B2DBC819F}"/>
              </a:ext>
            </a:extLst>
          </p:cNvPr>
          <p:cNvSpPr/>
          <p:nvPr/>
        </p:nvSpPr>
        <p:spPr>
          <a:xfrm>
            <a:off x="462784" y="564353"/>
            <a:ext cx="1260000" cy="1260000"/>
          </a:xfrm>
          <a:prstGeom prst="ellipse">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IN" sz="1000" b="1" i="0" u="none" strike="noStrike" cap="none" spc="0" normalizeH="0" baseline="0" dirty="0">
              <a:ln>
                <a:noFill/>
              </a:ln>
              <a:solidFill>
                <a:srgbClr val="000000"/>
              </a:solidFill>
              <a:effectLst/>
              <a:uFillTx/>
              <a:latin typeface="+mn-lt"/>
              <a:ea typeface="+mn-ea"/>
              <a:cs typeface="+mn-cs"/>
              <a:sym typeface="Calibri"/>
            </a:endParaRPr>
          </a:p>
        </p:txBody>
      </p:sp>
      <p:pic>
        <p:nvPicPr>
          <p:cNvPr id="6" name="Picture 5">
            <a:extLst>
              <a:ext uri="{FF2B5EF4-FFF2-40B4-BE49-F238E27FC236}">
                <a16:creationId xmlns:a16="http://schemas.microsoft.com/office/drawing/2014/main" id="{94637216-428A-CB2F-36CE-FB55828379CA}"/>
              </a:ext>
            </a:extLst>
          </p:cNvPr>
          <p:cNvPicPr>
            <a:picLocks noChangeAspect="1"/>
          </p:cNvPicPr>
          <p:nvPr/>
        </p:nvPicPr>
        <p:blipFill>
          <a:blip r:embed="rId4"/>
          <a:stretch>
            <a:fillRect/>
          </a:stretch>
        </p:blipFill>
        <p:spPr>
          <a:xfrm>
            <a:off x="255082" y="188843"/>
            <a:ext cx="2187130" cy="1976109"/>
          </a:xfrm>
          <a:prstGeom prst="rect">
            <a:avLst/>
          </a:prstGeom>
        </p:spPr>
      </p:pic>
      <p:pic>
        <p:nvPicPr>
          <p:cNvPr id="1026" name="Picture 1">
            <a:extLst>
              <a:ext uri="{FF2B5EF4-FFF2-40B4-BE49-F238E27FC236}">
                <a16:creationId xmlns:a16="http://schemas.microsoft.com/office/drawing/2014/main" id="{D889B2AA-7036-82A1-EF08-9D5A332588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74" y="2652880"/>
            <a:ext cx="1029510" cy="391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1">
            <a:extLst>
              <a:ext uri="{FF2B5EF4-FFF2-40B4-BE49-F238E27FC236}">
                <a16:creationId xmlns:a16="http://schemas.microsoft.com/office/drawing/2014/main" id="{71011290-A950-7A43-609F-D059D271F57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9837" y="2676497"/>
            <a:ext cx="797668" cy="39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
            <a:extLst>
              <a:ext uri="{FF2B5EF4-FFF2-40B4-BE49-F238E27FC236}">
                <a16:creationId xmlns:a16="http://schemas.microsoft.com/office/drawing/2014/main" id="{AD0DCD0A-43F0-B203-9C2F-F8325B2F85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3389" y="2631634"/>
            <a:ext cx="934206" cy="42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a:extLst>
              <a:ext uri="{FF2B5EF4-FFF2-40B4-BE49-F238E27FC236}">
                <a16:creationId xmlns:a16="http://schemas.microsoft.com/office/drawing/2014/main" id="{A4B43624-F2C7-EAD3-583F-43F6E48F7A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74" y="3157156"/>
            <a:ext cx="1248691" cy="41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6E471835-8FC9-A382-24DD-9A87A07ECB6A}"/>
              </a:ext>
            </a:extLst>
          </p:cNvPr>
          <p:cNvPicPr>
            <a:picLocks noChangeAspect="1"/>
          </p:cNvPicPr>
          <p:nvPr/>
        </p:nvPicPr>
        <p:blipFill>
          <a:blip r:embed="rId9"/>
          <a:stretch>
            <a:fillRect/>
          </a:stretch>
        </p:blipFill>
        <p:spPr>
          <a:xfrm>
            <a:off x="1484686" y="3145994"/>
            <a:ext cx="1027099" cy="478311"/>
          </a:xfrm>
          <a:prstGeom prst="rect">
            <a:avLst/>
          </a:prstGeom>
        </p:spPr>
      </p:pic>
    </p:spTree>
    <p:extLst>
      <p:ext uri="{BB962C8B-B14F-4D97-AF65-F5344CB8AC3E}">
        <p14:creationId xmlns:p14="http://schemas.microsoft.com/office/powerpoint/2010/main" val="1186732060"/>
      </p:ext>
    </p:extLst>
  </p:cSld>
  <p:clrMapOvr>
    <a:masterClrMapping/>
  </p:clrMapOvr>
  <p:transition spd="med"/>
</p:sld>
</file>

<file path=ppt/theme/theme1.xml><?xml version="1.0" encoding="utf-8"?>
<a:theme xmlns:a="http://schemas.openxmlformats.org/drawingml/2006/main" name="3_Office Theme">
  <a:themeElements>
    <a:clrScheme name="Office Theme">
      <a:dk1>
        <a:srgbClr val="000000"/>
      </a:dk1>
      <a:lt1>
        <a:srgbClr val="5ACCB4"/>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AC923A19DFAFC4F9E3817FDC0990DFA" ma:contentTypeVersion="8" ma:contentTypeDescription="Create a new document." ma:contentTypeScope="" ma:versionID="99cd87d5aed0966012c068ae33ee9a92">
  <xsd:schema xmlns:xsd="http://www.w3.org/2001/XMLSchema" xmlns:xs="http://www.w3.org/2001/XMLSchema" xmlns:p="http://schemas.microsoft.com/office/2006/metadata/properties" xmlns:ns2="7b5a94ff-f14c-45dc-a27a-c03e6b97689f" targetNamespace="http://schemas.microsoft.com/office/2006/metadata/properties" ma:root="true" ma:fieldsID="bbe8b2adc25f84ca134ac0766ed0215e" ns2:_="">
    <xsd:import namespace="7b5a94ff-f14c-45dc-a27a-c03e6b97689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5a94ff-f14c-45dc-a27a-c03e6b9768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7BF26F-4BAC-49CE-B916-901526DE27B6}">
  <ds:schemaRefs>
    <ds:schemaRef ds:uri="http://schemas.microsoft.com/sharepoint/v3/contenttype/forms"/>
  </ds:schemaRefs>
</ds:datastoreItem>
</file>

<file path=customXml/itemProps2.xml><?xml version="1.0" encoding="utf-8"?>
<ds:datastoreItem xmlns:ds="http://schemas.openxmlformats.org/officeDocument/2006/customXml" ds:itemID="{3AFC28A0-3C43-4A85-9BC2-ED04D26233F7}">
  <ds:schemaRefs>
    <ds:schemaRef ds:uri="http://purl.org/dc/dcmitype/"/>
    <ds:schemaRef ds:uri="http://purl.org/dc/elements/1.1/"/>
    <ds:schemaRef ds:uri="http://schemas.openxmlformats.org/package/2006/metadata/core-properties"/>
    <ds:schemaRef ds:uri="http://schemas.microsoft.com/office/2006/documentManagement/types"/>
    <ds:schemaRef ds:uri="http://purl.org/dc/terms/"/>
    <ds:schemaRef ds:uri="http://www.w3.org/XML/1998/namespace"/>
    <ds:schemaRef ds:uri="7b5a94ff-f14c-45dc-a27a-c03e6b97689f"/>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8A1CAB76-6F23-40C1-A82C-FD7FEAE7F716}">
  <ds:schemaRefs>
    <ds:schemaRef ds:uri="7b5a94ff-f14c-45dc-a27a-c03e6b9768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5743</TotalTime>
  <Words>619</Words>
  <Application>Microsoft Office PowerPoint</Application>
  <PresentationFormat>Widescreen</PresentationFormat>
  <Paragraphs>52</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Avenir Next</vt:lpstr>
      <vt:lpstr>Calibri</vt:lpstr>
      <vt:lpstr>Calibri Light</vt:lpstr>
      <vt:lpstr>Helvetica Neue LT Std 75 Bold</vt:lpstr>
      <vt:lpstr>HelveticaNeueLT Std Med</vt:lpstr>
      <vt:lpstr>HelveticaNeueLTStd-Hv</vt:lpstr>
      <vt:lpstr>Wingdings</vt:lpstr>
      <vt:lpstr>3_Office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Santosh Kumar - (Americas 2 - iDEAS-Group)</dc:creator>
  <cp:lastModifiedBy>Hariharan Eswaran</cp:lastModifiedBy>
  <cp:revision>49</cp:revision>
  <dcterms:modified xsi:type="dcterms:W3CDTF">2026-09-04T03:40:42Z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0x0101000AC923A19DFAFC4F9E3817FDC0990DFA</vt:lpwstr>
  </property>
  <property fmtid="{D5CDD505-2E9C-101B-9397-08002B2CF9AE}" pid="3" name="MSIP_Label_f65b3423-ec78-4b3c-9693-96b88a3857c2_Enabled">
    <vt:lpwstr>true</vt:lpwstr>
  </property>
  <property fmtid="{D5CDD505-2E9C-101B-9397-08002B2CF9AE}" pid="4" name="MSIP_Label_f65b3423-ec78-4b3c-9693-96b88a3857c2_SetDate">
    <vt:lpwstr>2023-01-18T16:14:06Z</vt:lpwstr>
  </property>
  <property fmtid="{D5CDD505-2E9C-101B-9397-08002B2CF9AE}" pid="5" name="MSIP_Label_f65b3423-ec78-4b3c-9693-96b88a3857c2_Method">
    <vt:lpwstr>Standard</vt:lpwstr>
  </property>
  <property fmtid="{D5CDD505-2E9C-101B-9397-08002B2CF9AE}" pid="6" name="MSIP_Label_f65b3423-ec78-4b3c-9693-96b88a3857c2_Name">
    <vt:lpwstr>Internal to Wipro</vt:lpwstr>
  </property>
  <property fmtid="{D5CDD505-2E9C-101B-9397-08002B2CF9AE}" pid="7" name="MSIP_Label_f65b3423-ec78-4b3c-9693-96b88a3857c2_SiteId">
    <vt:lpwstr>258ac4e4-146a-411e-9dc8-79a9e12fd6da</vt:lpwstr>
  </property>
  <property fmtid="{D5CDD505-2E9C-101B-9397-08002B2CF9AE}" pid="8" name="MSIP_Label_f65b3423-ec78-4b3c-9693-96b88a3857c2_ActionId">
    <vt:lpwstr>a618e094-aec7-4553-9bd6-543c97c3fae4</vt:lpwstr>
  </property>
  <property fmtid="{D5CDD505-2E9C-101B-9397-08002B2CF9AE}" pid="9" name="MSIP_Label_f65b3423-ec78-4b3c-9693-96b88a3857c2_ContentBits">
    <vt:lpwstr>2</vt:lpwstr>
  </property>
</Properties>
</file>